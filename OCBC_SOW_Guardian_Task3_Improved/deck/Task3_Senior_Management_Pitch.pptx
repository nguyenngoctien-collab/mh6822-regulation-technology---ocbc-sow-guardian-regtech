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0" y="0"/>
            <a:ext cx="12191695" cy="548640"/>
          </a:xfrm>
          <a:prstGeom prst="rect">
            <a:avLst/>
          </a:prstGeom>
          <a:solidFill>
            <a:srgbClr val="143053"/>
          </a:solidFill>
          <a:ln>
            <a:solidFill>
              <a:srgbClr val="14305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0"/>
            <a:ext cx="10972800" cy="731520"/>
          </a:xfrm>
          <a:prstGeom prst="rect">
            <a:avLst/>
          </a:prstGeom>
          <a:noFill/>
        </p:spPr>
        <p:txBody>
          <a:bodyPr wrap="square" lIns="45720" rIns="45720" tIns="27432" bIns="27432">
            <a:spAutoFit/>
          </a:bodyPr>
          <a:lstStyle/>
          <a:p>
            <a:pPr>
              <a:defRPr sz="3600" b="1">
                <a:solidFill>
                  <a:srgbClr val="143053"/>
                </a:solidFill>
              </a:defRPr>
            </a:pPr>
            <a:r>
              <a:t>Soteria SOW Guardian</a:t>
            </a:r>
          </a:p>
        </p:txBody>
      </p:sp>
      <p:sp>
        <p:nvSpPr>
          <p:cNvPr id="4" name="TextBox 3"/>
          <p:cNvSpPr txBox="1"/>
          <p:nvPr/>
        </p:nvSpPr>
        <p:spPr>
          <a:xfrm>
            <a:off x="548640" y="1737360"/>
            <a:ext cx="10789920" cy="457200"/>
          </a:xfrm>
          <a:prstGeom prst="rect">
            <a:avLst/>
          </a:prstGeom>
          <a:noFill/>
        </p:spPr>
        <p:txBody>
          <a:bodyPr wrap="square" lIns="45720" rIns="45720" tIns="27432" bIns="27432">
            <a:spAutoFit/>
          </a:bodyPr>
          <a:lstStyle/>
          <a:p>
            <a:pPr>
              <a:defRPr sz="2000" b="0">
                <a:solidFill>
                  <a:srgbClr val="235EA3"/>
                </a:solidFill>
              </a:defRPr>
            </a:pPr>
            <a:r>
              <a:t>Jurisdiction-Aware AI Governance Monitor for KYC Source-of-Wealth Review</a:t>
            </a:r>
          </a:p>
        </p:txBody>
      </p:sp>
      <p:sp>
        <p:nvSpPr>
          <p:cNvPr id="5" name="TextBox 4"/>
          <p:cNvSpPr txBox="1"/>
          <p:nvPr/>
        </p:nvSpPr>
        <p:spPr>
          <a:xfrm>
            <a:off x="548640" y="2468880"/>
            <a:ext cx="9144000" cy="731520"/>
          </a:xfrm>
          <a:prstGeom prst="rect">
            <a:avLst/>
          </a:prstGeom>
          <a:noFill/>
        </p:spPr>
        <p:txBody>
          <a:bodyPr wrap="square" lIns="45720" rIns="45720" tIns="27432" bIns="27432">
            <a:spAutoFit/>
          </a:bodyPr>
          <a:lstStyle/>
          <a:p>
            <a:pPr>
              <a:defRPr sz="1600" b="0">
                <a:solidFill>
                  <a:srgbClr val="222B37"/>
                </a:solidFill>
              </a:defRPr>
            </a:pPr>
            <a:r>
              <a:t>Entity: OCBC Bank Ltd | Jurisdictions: Singapore and United States | Option B - Architecture Design</a:t>
            </a:r>
          </a:p>
        </p:txBody>
      </p:sp>
      <p:sp>
        <p:nvSpPr>
          <p:cNvPr id="6" name="Rounded Rectangle 5"/>
          <p:cNvSpPr/>
          <p:nvPr/>
        </p:nvSpPr>
        <p:spPr>
          <a:xfrm>
            <a:off x="548640" y="3657600"/>
            <a:ext cx="3474720" cy="1188720"/>
          </a:xfrm>
          <a:prstGeom prst="roundRect">
            <a:avLst/>
          </a:prstGeom>
          <a:solidFill>
            <a:srgbClr val="FFFFFF"/>
          </a:solidFill>
          <a:ln>
            <a:solidFill>
              <a:srgbClr val="D0D8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3794760"/>
            <a:ext cx="3200400" cy="320040"/>
          </a:xfrm>
          <a:prstGeom prst="rect">
            <a:avLst/>
          </a:prstGeom>
          <a:noFill/>
        </p:spPr>
        <p:txBody>
          <a:bodyPr wrap="square" lIns="45720" rIns="45720" tIns="27432" bIns="27432">
            <a:spAutoFit/>
          </a:bodyPr>
          <a:lstStyle/>
          <a:p>
            <a:pPr>
              <a:defRPr sz="1400" b="1">
                <a:solidFill>
                  <a:srgbClr val="B53D35"/>
                </a:solidFill>
              </a:defRPr>
            </a:pPr>
            <a:r>
              <a:t>Core thesis</a:t>
            </a:r>
          </a:p>
        </p:txBody>
      </p:sp>
      <p:sp>
        <p:nvSpPr>
          <p:cNvPr id="8" name="TextBox 7"/>
          <p:cNvSpPr txBox="1"/>
          <p:nvPr/>
        </p:nvSpPr>
        <p:spPr>
          <a:xfrm>
            <a:off x="685800" y="4160520"/>
            <a:ext cx="3200400" cy="548640"/>
          </a:xfrm>
          <a:prstGeom prst="rect">
            <a:avLst/>
          </a:prstGeom>
          <a:noFill/>
        </p:spPr>
        <p:txBody>
          <a:bodyPr wrap="square" lIns="45720" rIns="45720" tIns="27432" bIns="27432">
            <a:spAutoFit/>
          </a:bodyPr>
          <a:lstStyle/>
          <a:p>
            <a:pPr>
              <a:defRPr sz="1200" b="0">
                <a:solidFill>
                  <a:srgbClr val="222B37"/>
                </a:solidFill>
              </a:defRPr>
            </a:pPr>
            <a:r>
              <a:t>AI can assist source-of-wealth review, but it should not convert uncertainty into false confidence.</a:t>
            </a:r>
          </a:p>
        </p:txBody>
      </p:sp>
      <p:sp>
        <p:nvSpPr>
          <p:cNvPr id="9" name="Rounded Rectangle 8"/>
          <p:cNvSpPr/>
          <p:nvPr/>
        </p:nvSpPr>
        <p:spPr>
          <a:xfrm>
            <a:off x="4389120" y="3657600"/>
            <a:ext cx="3474720" cy="1188720"/>
          </a:xfrm>
          <a:prstGeom prst="roundRect">
            <a:avLst/>
          </a:prstGeom>
          <a:solidFill>
            <a:srgbClr val="FFFFFF"/>
          </a:solidFill>
          <a:ln>
            <a:solidFill>
              <a:srgbClr val="D0D8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26280" y="3794760"/>
            <a:ext cx="3200400" cy="320040"/>
          </a:xfrm>
          <a:prstGeom prst="rect">
            <a:avLst/>
          </a:prstGeom>
          <a:noFill/>
        </p:spPr>
        <p:txBody>
          <a:bodyPr wrap="square" lIns="45720" rIns="45720" tIns="27432" bIns="27432">
            <a:spAutoFit/>
          </a:bodyPr>
          <a:lstStyle/>
          <a:p>
            <a:pPr>
              <a:defRPr sz="1400" b="1">
                <a:solidFill>
                  <a:srgbClr val="235EA3"/>
                </a:solidFill>
              </a:defRPr>
            </a:pPr>
            <a:r>
              <a:t>Primary buyer</a:t>
            </a:r>
          </a:p>
        </p:txBody>
      </p:sp>
      <p:sp>
        <p:nvSpPr>
          <p:cNvPr id="11" name="TextBox 10"/>
          <p:cNvSpPr txBox="1"/>
          <p:nvPr/>
        </p:nvSpPr>
        <p:spPr>
          <a:xfrm>
            <a:off x="4526280" y="4160520"/>
            <a:ext cx="3200400" cy="548640"/>
          </a:xfrm>
          <a:prstGeom prst="rect">
            <a:avLst/>
          </a:prstGeom>
          <a:noFill/>
        </p:spPr>
        <p:txBody>
          <a:bodyPr wrap="square" lIns="45720" rIns="45720" tIns="27432" bIns="27432">
            <a:spAutoFit/>
          </a:bodyPr>
          <a:lstStyle/>
          <a:p>
            <a:pPr>
              <a:defRPr sz="1200" b="0">
                <a:solidFill>
                  <a:srgbClr val="222B37"/>
                </a:solidFill>
              </a:defRPr>
            </a:pPr>
            <a:r>
              <a:t>Chief Compliance Officer, Financial Crime Compliance, Model Risk, and AI Governance Committee.</a:t>
            </a:r>
          </a:p>
        </p:txBody>
      </p:sp>
      <p:sp>
        <p:nvSpPr>
          <p:cNvPr id="12" name="Rounded Rectangle 11"/>
          <p:cNvSpPr/>
          <p:nvPr/>
        </p:nvSpPr>
        <p:spPr>
          <a:xfrm>
            <a:off x="8229600" y="3657600"/>
            <a:ext cx="3474720" cy="1188720"/>
          </a:xfrm>
          <a:prstGeom prst="roundRect">
            <a:avLst/>
          </a:prstGeom>
          <a:solidFill>
            <a:srgbClr val="FFFFFF"/>
          </a:solidFill>
          <a:ln>
            <a:solidFill>
              <a:srgbClr val="D0D8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66760" y="3794760"/>
            <a:ext cx="3200400" cy="320040"/>
          </a:xfrm>
          <a:prstGeom prst="rect">
            <a:avLst/>
          </a:prstGeom>
          <a:noFill/>
        </p:spPr>
        <p:txBody>
          <a:bodyPr wrap="square" lIns="45720" rIns="45720" tIns="27432" bIns="27432">
            <a:spAutoFit/>
          </a:bodyPr>
          <a:lstStyle/>
          <a:p>
            <a:pPr>
              <a:defRPr sz="1400" b="1">
                <a:solidFill>
                  <a:srgbClr val="7654A0"/>
                </a:solidFill>
              </a:defRPr>
            </a:pPr>
            <a:r>
              <a:t>Main output</a:t>
            </a:r>
          </a:p>
        </p:txBody>
      </p:sp>
      <p:sp>
        <p:nvSpPr>
          <p:cNvPr id="14" name="TextBox 13"/>
          <p:cNvSpPr txBox="1"/>
          <p:nvPr/>
        </p:nvSpPr>
        <p:spPr>
          <a:xfrm>
            <a:off x="8366760" y="4160520"/>
            <a:ext cx="3200400" cy="548640"/>
          </a:xfrm>
          <a:prstGeom prst="rect">
            <a:avLst/>
          </a:prstGeom>
          <a:noFill/>
        </p:spPr>
        <p:txBody>
          <a:bodyPr wrap="square" lIns="45720" rIns="45720" tIns="27432" bIns="27432">
            <a:spAutoFit/>
          </a:bodyPr>
          <a:lstStyle/>
          <a:p>
            <a:pPr>
              <a:defRPr sz="1200" b="0">
                <a:solidFill>
                  <a:srgbClr val="222B37"/>
                </a:solidFill>
              </a:defRPr>
            </a:pPr>
            <a:r>
              <a:t>Green, Amber, Red Friction, and jurisdiction-specific governance gap warnings.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0" y="0"/>
            <a:ext cx="12191695" cy="548640"/>
          </a:xfrm>
          <a:prstGeom prst="rect">
            <a:avLst/>
          </a:prstGeom>
          <a:solidFill>
            <a:srgbClr val="143053"/>
          </a:solidFill>
          <a:ln>
            <a:solidFill>
              <a:srgbClr val="14305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430000" cy="384048"/>
          </a:xfrm>
          <a:prstGeom prst="rect">
            <a:avLst/>
          </a:prstGeom>
          <a:noFill/>
        </p:spPr>
        <p:txBody>
          <a:bodyPr wrap="none">
            <a:spAutoFit/>
          </a:bodyPr>
          <a:lstStyle/>
          <a:p>
            <a:pPr>
              <a:defRPr sz="2200" b="1">
                <a:solidFill>
                  <a:srgbClr val="FFFFFF"/>
                </a:solidFill>
              </a:defRPr>
            </a:pPr>
            <a:r>
              <a:t>1. Why this product is right for Soteria RegTech</a:t>
            </a:r>
          </a:p>
        </p:txBody>
      </p:sp>
      <p:sp>
        <p:nvSpPr>
          <p:cNvPr id="4" name="TextBox 3"/>
          <p:cNvSpPr txBox="1"/>
          <p:nvPr/>
        </p:nvSpPr>
        <p:spPr>
          <a:xfrm>
            <a:off x="502920" y="685800"/>
            <a:ext cx="10972800" cy="320040"/>
          </a:xfrm>
          <a:prstGeom prst="rect">
            <a:avLst/>
          </a:prstGeom>
          <a:noFill/>
        </p:spPr>
        <p:txBody>
          <a:bodyPr wrap="none">
            <a:spAutoFit/>
          </a:bodyPr>
          <a:lstStyle/>
          <a:p>
            <a:pPr>
              <a:defRPr sz="1200">
                <a:solidFill>
                  <a:srgbClr val="5B6778"/>
                </a:solidFill>
              </a:defRPr>
            </a:pPr>
            <a:r>
              <a:t>A governance layer, not a replacement KYC system</a:t>
            </a:r>
          </a:p>
        </p:txBody>
      </p:sp>
      <p:sp>
        <p:nvSpPr>
          <p:cNvPr id="5" name="Rounded Rectangle 4"/>
          <p:cNvSpPr/>
          <p:nvPr/>
        </p:nvSpPr>
        <p:spPr>
          <a:xfrm>
            <a:off x="640080" y="1188720"/>
            <a:ext cx="3657600" cy="1371600"/>
          </a:xfrm>
          <a:prstGeom prst="roundRect">
            <a:avLst/>
          </a:prstGeom>
          <a:solidFill>
            <a:srgbClr val="FFFFFF"/>
          </a:solidFill>
          <a:ln>
            <a:solidFill>
              <a:srgbClr val="D0D8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325880"/>
            <a:ext cx="3383280" cy="320040"/>
          </a:xfrm>
          <a:prstGeom prst="rect">
            <a:avLst/>
          </a:prstGeom>
          <a:noFill/>
        </p:spPr>
        <p:txBody>
          <a:bodyPr wrap="square" lIns="45720" rIns="45720" tIns="27432" bIns="27432">
            <a:spAutoFit/>
          </a:bodyPr>
          <a:lstStyle/>
          <a:p>
            <a:pPr>
              <a:defRPr sz="1400" b="1">
                <a:solidFill>
                  <a:srgbClr val="235EA3"/>
                </a:solidFill>
              </a:defRPr>
            </a:pPr>
            <a:r>
              <a:t>Company fit</a:t>
            </a:r>
          </a:p>
        </p:txBody>
      </p:sp>
      <p:sp>
        <p:nvSpPr>
          <p:cNvPr id="7" name="TextBox 6"/>
          <p:cNvSpPr txBox="1"/>
          <p:nvPr/>
        </p:nvSpPr>
        <p:spPr>
          <a:xfrm>
            <a:off x="777240" y="1691640"/>
            <a:ext cx="3383280" cy="731520"/>
          </a:xfrm>
          <a:prstGeom prst="rect">
            <a:avLst/>
          </a:prstGeom>
          <a:noFill/>
        </p:spPr>
        <p:txBody>
          <a:bodyPr wrap="square" lIns="45720" rIns="45720" tIns="27432" bIns="27432">
            <a:spAutoFit/>
          </a:bodyPr>
          <a:lstStyle/>
          <a:p>
            <a:pPr>
              <a:defRPr sz="1200" b="0">
                <a:solidFill>
                  <a:srgbClr val="222B37"/>
                </a:solidFill>
              </a:defRPr>
            </a:pPr>
            <a:r>
              <a:t>Soteria is good at translating regulatory expectations into controls, evidence checks, audit trails, and jurisdiction-aware workflow logic.</a:t>
            </a:r>
          </a:p>
        </p:txBody>
      </p:sp>
      <p:sp>
        <p:nvSpPr>
          <p:cNvPr id="8" name="Rounded Rectangle 7"/>
          <p:cNvSpPr/>
          <p:nvPr/>
        </p:nvSpPr>
        <p:spPr>
          <a:xfrm>
            <a:off x="4480560" y="1188720"/>
            <a:ext cx="3657600" cy="1371600"/>
          </a:xfrm>
          <a:prstGeom prst="roundRect">
            <a:avLst/>
          </a:prstGeom>
          <a:solidFill>
            <a:srgbClr val="FFFFFF"/>
          </a:solidFill>
          <a:ln>
            <a:solidFill>
              <a:srgbClr val="D0D8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17720" y="1325880"/>
            <a:ext cx="3383280" cy="320040"/>
          </a:xfrm>
          <a:prstGeom prst="rect">
            <a:avLst/>
          </a:prstGeom>
          <a:noFill/>
        </p:spPr>
        <p:txBody>
          <a:bodyPr wrap="square" lIns="45720" rIns="45720" tIns="27432" bIns="27432">
            <a:spAutoFit/>
          </a:bodyPr>
          <a:lstStyle/>
          <a:p>
            <a:pPr>
              <a:defRPr sz="1400" b="1">
                <a:solidFill>
                  <a:srgbClr val="BE8026"/>
                </a:solidFill>
              </a:defRPr>
            </a:pPr>
            <a:r>
              <a:t>Market wedge</a:t>
            </a:r>
          </a:p>
        </p:txBody>
      </p:sp>
      <p:sp>
        <p:nvSpPr>
          <p:cNvPr id="10" name="TextBox 9"/>
          <p:cNvSpPr txBox="1"/>
          <p:nvPr/>
        </p:nvSpPr>
        <p:spPr>
          <a:xfrm>
            <a:off x="4617720" y="1691640"/>
            <a:ext cx="3383280" cy="731520"/>
          </a:xfrm>
          <a:prstGeom prst="rect">
            <a:avLst/>
          </a:prstGeom>
          <a:noFill/>
        </p:spPr>
        <p:txBody>
          <a:bodyPr wrap="square" lIns="45720" rIns="45720" tIns="27432" bIns="27432">
            <a:spAutoFit/>
          </a:bodyPr>
          <a:lstStyle/>
          <a:p>
            <a:pPr>
              <a:defRPr sz="1200" b="0">
                <a:solidFill>
                  <a:srgbClr val="222B37"/>
                </a:solidFill>
              </a:defRPr>
            </a:pPr>
            <a:r>
              <a:t>Banks are already deploying AI into KYC workflows. The speed gain creates a governance problem that spreadsheets cannot monitor continuously.</a:t>
            </a:r>
          </a:p>
        </p:txBody>
      </p:sp>
      <p:sp>
        <p:nvSpPr>
          <p:cNvPr id="11" name="Rounded Rectangle 10"/>
          <p:cNvSpPr/>
          <p:nvPr/>
        </p:nvSpPr>
        <p:spPr>
          <a:xfrm>
            <a:off x="8321040" y="1188720"/>
            <a:ext cx="3200400" cy="1371600"/>
          </a:xfrm>
          <a:prstGeom prst="roundRect">
            <a:avLst/>
          </a:prstGeom>
          <a:solidFill>
            <a:srgbClr val="FFFFFF"/>
          </a:solidFill>
          <a:ln>
            <a:solidFill>
              <a:srgbClr val="D0D8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58200" y="1325880"/>
            <a:ext cx="2926080" cy="320040"/>
          </a:xfrm>
          <a:prstGeom prst="rect">
            <a:avLst/>
          </a:prstGeom>
          <a:noFill/>
        </p:spPr>
        <p:txBody>
          <a:bodyPr wrap="square" lIns="45720" rIns="45720" tIns="27432" bIns="27432">
            <a:spAutoFit/>
          </a:bodyPr>
          <a:lstStyle/>
          <a:p>
            <a:pPr>
              <a:defRPr sz="1400" b="1">
                <a:solidFill>
                  <a:srgbClr val="B53D35"/>
                </a:solidFill>
              </a:defRPr>
            </a:pPr>
            <a:r>
              <a:t>Boundary choice</a:t>
            </a:r>
          </a:p>
        </p:txBody>
      </p:sp>
      <p:sp>
        <p:nvSpPr>
          <p:cNvPr id="13" name="TextBox 12"/>
          <p:cNvSpPr txBox="1"/>
          <p:nvPr/>
        </p:nvSpPr>
        <p:spPr>
          <a:xfrm>
            <a:off x="8458200" y="1691640"/>
            <a:ext cx="2926080" cy="731520"/>
          </a:xfrm>
          <a:prstGeom prst="rect">
            <a:avLst/>
          </a:prstGeom>
          <a:noFill/>
        </p:spPr>
        <p:txBody>
          <a:bodyPr wrap="square" lIns="45720" rIns="45720" tIns="27432" bIns="27432">
            <a:spAutoFit/>
          </a:bodyPr>
          <a:lstStyle/>
          <a:p>
            <a:pPr>
              <a:defRPr sz="1200" b="0">
                <a:solidFill>
                  <a:srgbClr val="222B37"/>
                </a:solidFill>
              </a:defRPr>
            </a:pPr>
            <a:r>
              <a:t>The product does not sell a simple "compliant" badge. It surfaces uncertainty and forces review.</a:t>
            </a:r>
          </a:p>
        </p:txBody>
      </p:sp>
      <p:sp>
        <p:nvSpPr>
          <p:cNvPr id="14" name="TextBox 13"/>
          <p:cNvSpPr txBox="1"/>
          <p:nvPr/>
        </p:nvSpPr>
        <p:spPr>
          <a:xfrm>
            <a:off x="731520" y="3200400"/>
            <a:ext cx="10881360" cy="731520"/>
          </a:xfrm>
          <a:prstGeom prst="rect">
            <a:avLst/>
          </a:prstGeom>
          <a:noFill/>
        </p:spPr>
        <p:txBody>
          <a:bodyPr wrap="square" lIns="45720" rIns="45720" tIns="27432" bIns="27432">
            <a:spAutoFit/>
          </a:bodyPr>
          <a:lstStyle/>
          <a:p>
            <a:pPr>
              <a:defRPr sz="1700" b="0">
                <a:solidFill>
                  <a:srgbClr val="222B37"/>
                </a:solidFill>
              </a:defRPr>
            </a:pPr>
            <a:r>
              <a:t>Bank of Singapore has publicly described an agentic AI Source of Wealth Assistant that reduces report preparation from about 10 days to one hour while retaining human review. This makes the governance problem realistic, not hypothetical. [R2]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0" y="0"/>
            <a:ext cx="12191695" cy="548640"/>
          </a:xfrm>
          <a:prstGeom prst="rect">
            <a:avLst/>
          </a:prstGeom>
          <a:solidFill>
            <a:srgbClr val="143053"/>
          </a:solidFill>
          <a:ln>
            <a:solidFill>
              <a:srgbClr val="14305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430000" cy="384048"/>
          </a:xfrm>
          <a:prstGeom prst="rect">
            <a:avLst/>
          </a:prstGeom>
          <a:noFill/>
        </p:spPr>
        <p:txBody>
          <a:bodyPr wrap="none">
            <a:spAutoFit/>
          </a:bodyPr>
          <a:lstStyle/>
          <a:p>
            <a:pPr>
              <a:defRPr sz="2200" b="1">
                <a:solidFill>
                  <a:srgbClr val="FFFFFF"/>
                </a:solidFill>
              </a:defRPr>
            </a:pPr>
            <a:r>
              <a:t>2. Problem: polished AI narratives can hide weak evidence</a:t>
            </a:r>
          </a:p>
        </p:txBody>
      </p:sp>
      <p:sp>
        <p:nvSpPr>
          <p:cNvPr id="4" name="TextBox 3"/>
          <p:cNvSpPr txBox="1"/>
          <p:nvPr/>
        </p:nvSpPr>
        <p:spPr>
          <a:xfrm>
            <a:off x="502920" y="685800"/>
            <a:ext cx="10972800" cy="320040"/>
          </a:xfrm>
          <a:prstGeom prst="rect">
            <a:avLst/>
          </a:prstGeom>
          <a:noFill/>
        </p:spPr>
        <p:txBody>
          <a:bodyPr wrap="none">
            <a:spAutoFit/>
          </a:bodyPr>
          <a:lstStyle/>
          <a:p>
            <a:pPr>
              <a:defRPr sz="1200">
                <a:solidFill>
                  <a:srgbClr val="5B6778"/>
                </a:solidFill>
              </a:defRPr>
            </a:pPr>
            <a:r>
              <a:t>The tool is designed to test evidence, not just document workflow completion</a:t>
            </a:r>
          </a:p>
        </p:txBody>
      </p:sp>
      <p:sp>
        <p:nvSpPr>
          <p:cNvPr id="5" name="Rounded Rectangle 4"/>
          <p:cNvSpPr/>
          <p:nvPr/>
        </p:nvSpPr>
        <p:spPr>
          <a:xfrm>
            <a:off x="640080" y="1188720"/>
            <a:ext cx="3383280" cy="1463040"/>
          </a:xfrm>
          <a:prstGeom prst="roundRect">
            <a:avLst/>
          </a:prstGeom>
          <a:solidFill>
            <a:srgbClr val="FFFFFF"/>
          </a:solidFill>
          <a:ln>
            <a:solidFill>
              <a:srgbClr val="D0D8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325880"/>
            <a:ext cx="3108960" cy="320040"/>
          </a:xfrm>
          <a:prstGeom prst="rect">
            <a:avLst/>
          </a:prstGeom>
          <a:noFill/>
        </p:spPr>
        <p:txBody>
          <a:bodyPr wrap="square" lIns="45720" rIns="45720" tIns="27432" bIns="27432">
            <a:spAutoFit/>
          </a:bodyPr>
          <a:lstStyle/>
          <a:p>
            <a:pPr>
              <a:defRPr sz="1400" b="1">
                <a:solidFill>
                  <a:srgbClr val="B53D35"/>
                </a:solidFill>
              </a:defRPr>
            </a:pPr>
            <a:r>
              <a:t>The operational risk</a:t>
            </a:r>
          </a:p>
        </p:txBody>
      </p:sp>
      <p:sp>
        <p:nvSpPr>
          <p:cNvPr id="7" name="TextBox 6"/>
          <p:cNvSpPr txBox="1"/>
          <p:nvPr/>
        </p:nvSpPr>
        <p:spPr>
          <a:xfrm>
            <a:off x="777240" y="1691640"/>
            <a:ext cx="3108960" cy="822960"/>
          </a:xfrm>
          <a:prstGeom prst="rect">
            <a:avLst/>
          </a:prstGeom>
          <a:noFill/>
        </p:spPr>
        <p:txBody>
          <a:bodyPr wrap="square" lIns="45720" rIns="45720" tIns="27432" bIns="27432">
            <a:spAutoFit/>
          </a:bodyPr>
          <a:lstStyle/>
          <a:p>
            <a:pPr>
              <a:defRPr sz="1200" b="0">
                <a:solidFill>
                  <a:srgbClr val="222B37"/>
                </a:solidFill>
              </a:defRPr>
            </a:pPr>
            <a:r>
              <a:t>AI can create a coherent source-of-wealth report even when sale proceeds, ownership records, tax documents, or bank transfers do not support the story.</a:t>
            </a:r>
          </a:p>
        </p:txBody>
      </p:sp>
      <p:sp>
        <p:nvSpPr>
          <p:cNvPr id="8" name="Rounded Rectangle 7"/>
          <p:cNvSpPr/>
          <p:nvPr/>
        </p:nvSpPr>
        <p:spPr>
          <a:xfrm>
            <a:off x="4297680" y="1188720"/>
            <a:ext cx="3383280" cy="1463040"/>
          </a:xfrm>
          <a:prstGeom prst="roundRect">
            <a:avLst/>
          </a:prstGeom>
          <a:solidFill>
            <a:srgbClr val="FFFFFF"/>
          </a:solidFill>
          <a:ln>
            <a:solidFill>
              <a:srgbClr val="D0D8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434840" y="1325880"/>
            <a:ext cx="3108960" cy="320040"/>
          </a:xfrm>
          <a:prstGeom prst="rect">
            <a:avLst/>
          </a:prstGeom>
          <a:noFill/>
        </p:spPr>
        <p:txBody>
          <a:bodyPr wrap="square" lIns="45720" rIns="45720" tIns="27432" bIns="27432">
            <a:spAutoFit/>
          </a:bodyPr>
          <a:lstStyle/>
          <a:p>
            <a:pPr>
              <a:defRPr sz="1400" b="1">
                <a:solidFill>
                  <a:srgbClr val="BE8026"/>
                </a:solidFill>
              </a:defRPr>
            </a:pPr>
            <a:r>
              <a:t>What a memo misses</a:t>
            </a:r>
          </a:p>
        </p:txBody>
      </p:sp>
      <p:sp>
        <p:nvSpPr>
          <p:cNvPr id="10" name="TextBox 9"/>
          <p:cNvSpPr txBox="1"/>
          <p:nvPr/>
        </p:nvSpPr>
        <p:spPr>
          <a:xfrm>
            <a:off x="4434840" y="1691640"/>
            <a:ext cx="3108960" cy="822960"/>
          </a:xfrm>
          <a:prstGeom prst="rect">
            <a:avLst/>
          </a:prstGeom>
          <a:noFill/>
        </p:spPr>
        <p:txBody>
          <a:bodyPr wrap="square" lIns="45720" rIns="45720" tIns="27432" bIns="27432">
            <a:spAutoFit/>
          </a:bodyPr>
          <a:lstStyle/>
          <a:p>
            <a:pPr>
              <a:defRPr sz="1200" b="0">
                <a:solidFill>
                  <a:srgbClr val="222B37"/>
                </a:solidFill>
              </a:defRPr>
            </a:pPr>
            <a:r>
              <a:t>A memo records that review happened, but not whether each material claim maps to evidence or whether contradictions remain unresolved.</a:t>
            </a:r>
          </a:p>
        </p:txBody>
      </p:sp>
      <p:sp>
        <p:nvSpPr>
          <p:cNvPr id="11" name="Rounded Rectangle 10"/>
          <p:cNvSpPr/>
          <p:nvPr/>
        </p:nvSpPr>
        <p:spPr>
          <a:xfrm>
            <a:off x="7955279" y="1188720"/>
            <a:ext cx="3474720" cy="1463040"/>
          </a:xfrm>
          <a:prstGeom prst="roundRect">
            <a:avLst/>
          </a:prstGeom>
          <a:solidFill>
            <a:srgbClr val="FFFFFF"/>
          </a:solidFill>
          <a:ln>
            <a:solidFill>
              <a:srgbClr val="D0D8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92440" y="1325880"/>
            <a:ext cx="3200400" cy="320040"/>
          </a:xfrm>
          <a:prstGeom prst="rect">
            <a:avLst/>
          </a:prstGeom>
          <a:noFill/>
        </p:spPr>
        <p:txBody>
          <a:bodyPr wrap="square" lIns="45720" rIns="45720" tIns="27432" bIns="27432">
            <a:spAutoFit/>
          </a:bodyPr>
          <a:lstStyle/>
          <a:p>
            <a:pPr>
              <a:defRPr sz="1400" b="1">
                <a:solidFill>
                  <a:srgbClr val="235EA3"/>
                </a:solidFill>
              </a:defRPr>
            </a:pPr>
            <a:r>
              <a:t>What the tool adds</a:t>
            </a:r>
          </a:p>
        </p:txBody>
      </p:sp>
      <p:sp>
        <p:nvSpPr>
          <p:cNvPr id="13" name="TextBox 12"/>
          <p:cNvSpPr txBox="1"/>
          <p:nvPr/>
        </p:nvSpPr>
        <p:spPr>
          <a:xfrm>
            <a:off x="8092440" y="1691640"/>
            <a:ext cx="3200400" cy="822960"/>
          </a:xfrm>
          <a:prstGeom prst="rect">
            <a:avLst/>
          </a:prstGeom>
          <a:noFill/>
        </p:spPr>
        <p:txBody>
          <a:bodyPr wrap="square" lIns="45720" rIns="45720" tIns="27432" bIns="27432">
            <a:spAutoFit/>
          </a:bodyPr>
          <a:lstStyle/>
          <a:p>
            <a:pPr>
              <a:defRPr sz="1200" b="0">
                <a:solidFill>
                  <a:srgbClr val="222B37"/>
                </a:solidFill>
              </a:defRPr>
            </a:pPr>
            <a:r>
              <a:t>Claim-to-document mapping, contradiction detection, rule versioning, human challenge monitoring, and model drift alerts.</a:t>
            </a:r>
          </a:p>
        </p:txBody>
      </p:sp>
      <p:sp>
        <p:nvSpPr>
          <p:cNvPr id="14" name="TextBox 13"/>
          <p:cNvSpPr txBox="1"/>
          <p:nvPr/>
        </p:nvSpPr>
        <p:spPr>
          <a:xfrm>
            <a:off x="822960" y="3383280"/>
            <a:ext cx="10515600" cy="1645920"/>
          </a:xfrm>
          <a:prstGeom prst="rect">
            <a:avLst/>
          </a:prstGeom>
          <a:noFill/>
        </p:spPr>
        <p:txBody>
          <a:bodyPr wrap="square">
            <a:spAutoFit/>
          </a:bodyPr>
          <a:lstStyle/>
          <a:p>
            <a:pPr marL="250000">
              <a:spcAft>
                <a:spcPts val="400"/>
              </a:spcAft>
              <a:defRPr sz="1600">
                <a:solidFill>
                  <a:srgbClr val="222B37"/>
                </a:solidFill>
              </a:defRPr>
            </a:pPr>
            <a:r>
              <a:t>Design principle: automation can organise evidence, but accountable humans own judgment.</a:t>
            </a:r>
          </a:p>
          <a:p>
            <a:pPr marL="250000">
              <a:spcAft>
                <a:spcPts val="400"/>
              </a:spcAft>
              <a:defRPr sz="1600">
                <a:solidFill>
                  <a:srgbClr val="222B37"/>
                </a:solidFill>
              </a:defRPr>
            </a:pPr>
            <a:r>
              <a:t>Red Friction blocks straight-through approval when unsupported claims or material contradictions remain.</a:t>
            </a:r>
          </a:p>
          <a:p>
            <a:pPr marL="250000">
              <a:spcAft>
                <a:spcPts val="400"/>
              </a:spcAft>
              <a:defRPr sz="1600">
                <a:solidFill>
                  <a:srgbClr val="222B37"/>
                </a:solidFill>
              </a:defRPr>
            </a:pPr>
            <a:r>
              <a:t>The tool does not reduce escalations as a success metric unless evidence quality improves.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0" y="0"/>
            <a:ext cx="12191695" cy="548640"/>
          </a:xfrm>
          <a:prstGeom prst="rect">
            <a:avLst/>
          </a:prstGeom>
          <a:solidFill>
            <a:srgbClr val="143053"/>
          </a:solidFill>
          <a:ln>
            <a:solidFill>
              <a:srgbClr val="14305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430000" cy="384048"/>
          </a:xfrm>
          <a:prstGeom prst="rect">
            <a:avLst/>
          </a:prstGeom>
          <a:noFill/>
        </p:spPr>
        <p:txBody>
          <a:bodyPr wrap="none">
            <a:spAutoFit/>
          </a:bodyPr>
          <a:lstStyle/>
          <a:p>
            <a:pPr>
              <a:defRPr sz="2200" b="1">
                <a:solidFill>
                  <a:srgbClr val="FFFFFF"/>
                </a:solidFill>
              </a:defRPr>
            </a:pPr>
            <a:r>
              <a:t>3. Architecture overview</a:t>
            </a:r>
          </a:p>
        </p:txBody>
      </p:sp>
      <p:sp>
        <p:nvSpPr>
          <p:cNvPr id="4" name="TextBox 3"/>
          <p:cNvSpPr txBox="1"/>
          <p:nvPr/>
        </p:nvSpPr>
        <p:spPr>
          <a:xfrm>
            <a:off x="502920" y="685800"/>
            <a:ext cx="10972800" cy="320040"/>
          </a:xfrm>
          <a:prstGeom prst="rect">
            <a:avLst/>
          </a:prstGeom>
          <a:noFill/>
        </p:spPr>
        <p:txBody>
          <a:bodyPr wrap="none">
            <a:spAutoFit/>
          </a:bodyPr>
          <a:lstStyle/>
          <a:p>
            <a:pPr>
              <a:defRPr sz="1200">
                <a:solidFill>
                  <a:srgbClr val="5B6778"/>
                </a:solidFill>
              </a:defRPr>
            </a:pPr>
            <a:r>
              <a:t>Data flow, evidence scoring, jurisdiction logic, human review, audit pack</a:t>
            </a:r>
          </a:p>
        </p:txBody>
      </p:sp>
      <p:pic>
        <p:nvPicPr>
          <p:cNvPr id="5" name="Picture 4" descr="Mockup_0_System_Architecture.png"/>
          <p:cNvPicPr>
            <a:picLocks noChangeAspect="1"/>
          </p:cNvPicPr>
          <p:nvPr/>
        </p:nvPicPr>
        <p:blipFill>
          <a:blip r:embed="rId2"/>
          <a:stretch>
            <a:fillRect/>
          </a:stretch>
        </p:blipFill>
        <p:spPr>
          <a:xfrm>
            <a:off x="640080" y="1005840"/>
            <a:ext cx="10881360" cy="680085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0" y="0"/>
            <a:ext cx="12191695" cy="548640"/>
          </a:xfrm>
          <a:prstGeom prst="rect">
            <a:avLst/>
          </a:prstGeom>
          <a:solidFill>
            <a:srgbClr val="143053"/>
          </a:solidFill>
          <a:ln>
            <a:solidFill>
              <a:srgbClr val="14305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430000" cy="384048"/>
          </a:xfrm>
          <a:prstGeom prst="rect">
            <a:avLst/>
          </a:prstGeom>
          <a:noFill/>
        </p:spPr>
        <p:txBody>
          <a:bodyPr wrap="none">
            <a:spAutoFit/>
          </a:bodyPr>
          <a:lstStyle/>
          <a:p>
            <a:pPr>
              <a:defRPr sz="2200" b="1">
                <a:solidFill>
                  <a:srgbClr val="FFFFFF"/>
                </a:solidFill>
              </a:defRPr>
            </a:pPr>
            <a:r>
              <a:t>4. Regulatory divergence handled</a:t>
            </a:r>
          </a:p>
        </p:txBody>
      </p:sp>
      <p:sp>
        <p:nvSpPr>
          <p:cNvPr id="4" name="TextBox 3"/>
          <p:cNvSpPr txBox="1"/>
          <p:nvPr/>
        </p:nvSpPr>
        <p:spPr>
          <a:xfrm>
            <a:off x="502920" y="685800"/>
            <a:ext cx="10972800" cy="320040"/>
          </a:xfrm>
          <a:prstGeom prst="rect">
            <a:avLst/>
          </a:prstGeom>
          <a:noFill/>
        </p:spPr>
        <p:txBody>
          <a:bodyPr wrap="none">
            <a:spAutoFit/>
          </a:bodyPr>
          <a:lstStyle/>
          <a:p>
            <a:pPr>
              <a:defRPr sz="1200">
                <a:solidFill>
                  <a:srgbClr val="5B6778"/>
                </a:solidFill>
              </a:defRPr>
            </a:pPr>
            <a:r>
              <a:t>Same AI-assisted workflow, different Singapore and US control logic</a:t>
            </a:r>
          </a:p>
        </p:txBody>
      </p:sp>
      <p:graphicFrame>
        <p:nvGraphicFramePr>
          <p:cNvPr id="5" name="Table 4"/>
          <p:cNvGraphicFramePr>
            <a:graphicFrameLocks noGrp="1"/>
          </p:cNvGraphicFramePr>
          <p:nvPr/>
        </p:nvGraphicFramePr>
        <p:xfrm>
          <a:off x="640080" y="1097280"/>
          <a:ext cx="10881360" cy="2926080"/>
        </p:xfrm>
        <a:graphic>
          <a:graphicData uri="http://schemas.openxmlformats.org/drawingml/2006/table">
            <a:tbl>
              <a:tblPr firstRow="1" bandRow="1">
                <a:tableStyleId>{5C22544A-7EE6-4342-B048-85BDC9FD1C3A}</a:tableStyleId>
              </a:tblPr>
              <a:tblGrid>
                <a:gridCol w="2286000"/>
                <a:gridCol w="4114800"/>
                <a:gridCol w="4480560"/>
              </a:tblGrid>
              <a:tr h="585216">
                <a:tc>
                  <a:txBody>
                    <a:bodyPr/>
                    <a:lstStyle/>
                    <a:p>
                      <a:pPr>
                        <a:defRPr sz="1100" b="1">
                          <a:solidFill>
                            <a:srgbClr val="222B37"/>
                          </a:solidFill>
                        </a:defRPr>
                      </a:pPr>
                      <a:r>
                        <a:t>Issue</a:t>
                      </a:r>
                    </a:p>
                  </a:txBody>
                  <a:tcPr marL="45720" marR="45720" marT="27432" marB="27432">
                    <a:solidFill>
                      <a:srgbClr val="E8F0F8"/>
                    </a:solidFill>
                  </a:tcPr>
                </a:tc>
                <a:tc>
                  <a:txBody>
                    <a:bodyPr/>
                    <a:lstStyle/>
                    <a:p>
                      <a:pPr>
                        <a:defRPr sz="1100" b="1">
                          <a:solidFill>
                            <a:srgbClr val="222B37"/>
                          </a:solidFill>
                        </a:defRPr>
                      </a:pPr>
                      <a:r>
                        <a:t>Singapore mode</a:t>
                      </a:r>
                    </a:p>
                  </a:txBody>
                  <a:tcPr marL="45720" marR="45720" marT="27432" marB="27432">
                    <a:solidFill>
                      <a:srgbClr val="E8F0F8"/>
                    </a:solidFill>
                  </a:tcPr>
                </a:tc>
                <a:tc>
                  <a:txBody>
                    <a:bodyPr/>
                    <a:lstStyle/>
                    <a:p>
                      <a:pPr>
                        <a:defRPr sz="1100" b="1">
                          <a:solidFill>
                            <a:srgbClr val="222B37"/>
                          </a:solidFill>
                        </a:defRPr>
                      </a:pPr>
                      <a:r>
                        <a:t>US mode</a:t>
                      </a:r>
                    </a:p>
                  </a:txBody>
                  <a:tcPr marL="45720" marR="45720" marT="27432" marB="27432">
                    <a:solidFill>
                      <a:srgbClr val="E8F0F8"/>
                    </a:solidFill>
                  </a:tcPr>
                </a:tc>
              </a:tr>
              <a:tr h="585216">
                <a:tc>
                  <a:txBody>
                    <a:bodyPr/>
                    <a:lstStyle/>
                    <a:p>
                      <a:pPr>
                        <a:defRPr sz="1100" b="0">
                          <a:solidFill>
                            <a:srgbClr val="222B37"/>
                          </a:solidFill>
                        </a:defRPr>
                      </a:pPr>
                      <a:r>
                        <a:t>Agentic AI in KYC</a:t>
                      </a:r>
                    </a:p>
                  </a:txBody>
                  <a:tcPr marL="45720" marR="45720" marT="27432" marB="27432">
                    <a:solidFill>
                      <a:srgbClr val="FFFFFF"/>
                    </a:solidFill>
                  </a:tcPr>
                </a:tc>
                <a:tc>
                  <a:txBody>
                    <a:bodyPr/>
                    <a:lstStyle/>
                    <a:p>
                      <a:pPr>
                        <a:defRPr sz="1100" b="0">
                          <a:solidFill>
                            <a:srgbClr val="222B37"/>
                          </a:solidFill>
                        </a:defRPr>
                      </a:pPr>
                      <a:r>
                        <a:t>MAS AI MRM + FEAT/Veritas controls</a:t>
                      </a:r>
                    </a:p>
                  </a:txBody>
                  <a:tcPr marL="45720" marR="45720" marT="27432" marB="27432">
                    <a:solidFill>
                      <a:srgbClr val="FFFFFF"/>
                    </a:solidFill>
                  </a:tcPr>
                </a:tc>
                <a:tc>
                  <a:txBody>
                    <a:bodyPr/>
                    <a:lstStyle/>
                    <a:p>
                      <a:pPr>
                        <a:defRPr sz="1100" b="0">
                          <a:solidFill>
                            <a:srgbClr val="222B37"/>
                          </a:solidFill>
                        </a:defRPr>
                      </a:pPr>
                      <a:r>
                        <a:t>SR 26-2/OCC 2026-13 governance gap warning</a:t>
                      </a:r>
                    </a:p>
                  </a:txBody>
                  <a:tcPr marL="45720" marR="45720" marT="27432" marB="27432">
                    <a:solidFill>
                      <a:srgbClr val="FFFFFF"/>
                    </a:solidFill>
                  </a:tcPr>
                </a:tc>
              </a:tr>
              <a:tr h="585216">
                <a:tc>
                  <a:txBody>
                    <a:bodyPr/>
                    <a:lstStyle/>
                    <a:p>
                      <a:pPr>
                        <a:defRPr sz="1100" b="0">
                          <a:solidFill>
                            <a:srgbClr val="222B37"/>
                          </a:solidFill>
                        </a:defRPr>
                      </a:pPr>
                      <a:r>
                        <a:t>SoW evidence incomplete</a:t>
                      </a:r>
                    </a:p>
                  </a:txBody>
                  <a:tcPr marL="45720" marR="45720" marT="27432" marB="27432">
                    <a:solidFill>
                      <a:srgbClr val="FFFFFF"/>
                    </a:solidFill>
                  </a:tcPr>
                </a:tc>
                <a:tc>
                  <a:txBody>
                    <a:bodyPr/>
                    <a:lstStyle/>
                    <a:p>
                      <a:pPr>
                        <a:defRPr sz="1100" b="0">
                          <a:solidFill>
                            <a:srgbClr val="222B37"/>
                          </a:solidFill>
                        </a:defRPr>
                      </a:pPr>
                      <a:r>
                        <a:t>MAS Notice 626 CDD/EDD review</a:t>
                      </a:r>
                    </a:p>
                  </a:txBody>
                  <a:tcPr marL="45720" marR="45720" marT="27432" marB="27432">
                    <a:solidFill>
                      <a:srgbClr val="FFFFFF"/>
                    </a:solidFill>
                  </a:tcPr>
                </a:tc>
                <a:tc>
                  <a:txBody>
                    <a:bodyPr/>
                    <a:lstStyle/>
                    <a:p>
                      <a:pPr>
                        <a:defRPr sz="1100" b="0">
                          <a:solidFill>
                            <a:srgbClr val="222B37"/>
                          </a:solidFill>
                        </a:defRPr>
                      </a:pPr>
                      <a:r>
                        <a:t>FinCEN CDD/customer risk profile review</a:t>
                      </a:r>
                    </a:p>
                  </a:txBody>
                  <a:tcPr marL="45720" marR="45720" marT="27432" marB="27432">
                    <a:solidFill>
                      <a:srgbClr val="FFFFFF"/>
                    </a:solidFill>
                  </a:tcPr>
                </a:tc>
              </a:tr>
              <a:tr h="585216">
                <a:tc>
                  <a:txBody>
                    <a:bodyPr/>
                    <a:lstStyle/>
                    <a:p>
                      <a:pPr>
                        <a:defRPr sz="1100" b="0">
                          <a:solidFill>
                            <a:srgbClr val="222B37"/>
                          </a:solidFill>
                        </a:defRPr>
                      </a:pPr>
                      <a:r>
                        <a:t>Human rubber-stamping</a:t>
                      </a:r>
                    </a:p>
                  </a:txBody>
                  <a:tcPr marL="45720" marR="45720" marT="27432" marB="27432">
                    <a:solidFill>
                      <a:srgbClr val="FFFFFF"/>
                    </a:solidFill>
                  </a:tcPr>
                </a:tc>
                <a:tc>
                  <a:txBody>
                    <a:bodyPr/>
                    <a:lstStyle/>
                    <a:p>
                      <a:pPr>
                        <a:defRPr sz="1100" b="0">
                          <a:solidFill>
                            <a:srgbClr val="222B37"/>
                          </a:solidFill>
                        </a:defRPr>
                      </a:pPr>
                      <a:r>
                        <a:t>Accountability weakness flagged</a:t>
                      </a:r>
                    </a:p>
                  </a:txBody>
                  <a:tcPr marL="45720" marR="45720" marT="27432" marB="27432">
                    <a:solidFill>
                      <a:srgbClr val="FFFFFF"/>
                    </a:solidFill>
                  </a:tcPr>
                </a:tc>
                <a:tc>
                  <a:txBody>
                    <a:bodyPr/>
                    <a:lstStyle/>
                    <a:p>
                      <a:pPr>
                        <a:defRPr sz="1100" b="0">
                          <a:solidFill>
                            <a:srgbClr val="222B37"/>
                          </a:solidFill>
                        </a:defRPr>
                      </a:pPr>
                      <a:r>
                        <a:t>Effective challenge/internal governance weakness flagged</a:t>
                      </a:r>
                    </a:p>
                  </a:txBody>
                  <a:tcPr marL="45720" marR="45720" marT="27432" marB="27432">
                    <a:solidFill>
                      <a:srgbClr val="FFFFFF"/>
                    </a:solidFill>
                  </a:tcPr>
                </a:tc>
              </a:tr>
              <a:tr h="585216">
                <a:tc>
                  <a:txBody>
                    <a:bodyPr/>
                    <a:lstStyle/>
                    <a:p>
                      <a:pPr>
                        <a:defRPr sz="1100" b="0">
                          <a:solidFill>
                            <a:srgbClr val="222B37"/>
                          </a:solidFill>
                        </a:defRPr>
                      </a:pPr>
                      <a:r>
                        <a:t>Cross-border case</a:t>
                      </a:r>
                    </a:p>
                  </a:txBody>
                  <a:tcPr marL="45720" marR="45720" marT="27432" marB="27432">
                    <a:solidFill>
                      <a:srgbClr val="FFFFFF"/>
                    </a:solidFill>
                  </a:tcPr>
                </a:tc>
                <a:tc>
                  <a:txBody>
                    <a:bodyPr/>
                    <a:lstStyle/>
                    <a:p>
                      <a:pPr>
                        <a:defRPr sz="1100" b="0">
                          <a:solidFill>
                            <a:srgbClr val="222B37"/>
                          </a:solidFill>
                        </a:defRPr>
                      </a:pPr>
                      <a:r>
                        <a:t>Dual-rule review</a:t>
                      </a:r>
                    </a:p>
                  </a:txBody>
                  <a:tcPr marL="45720" marR="45720" marT="27432" marB="27432">
                    <a:solidFill>
                      <a:srgbClr val="FFFFFF"/>
                    </a:solidFill>
                  </a:tcPr>
                </a:tc>
                <a:tc>
                  <a:txBody>
                    <a:bodyPr/>
                    <a:lstStyle/>
                    <a:p>
                      <a:pPr>
                        <a:defRPr sz="1100" b="0">
                          <a:solidFill>
                            <a:srgbClr val="222B37"/>
                          </a:solidFill>
                        </a:defRPr>
                      </a:pPr>
                      <a:r>
                        <a:t>Dual-rule review; no silent downgrade</a:t>
                      </a:r>
                    </a:p>
                  </a:txBody>
                  <a:tcPr marL="45720" marR="45720" marT="27432" marB="27432">
                    <a:solidFill>
                      <a:srgbClr val="FFFFFF"/>
                    </a:solidFill>
                  </a:tcPr>
                </a:tc>
              </a:tr>
            </a:tbl>
          </a:graphicData>
        </a:graphic>
      </p:graphicFrame>
      <p:sp>
        <p:nvSpPr>
          <p:cNvPr id="6" name="TextBox 5"/>
          <p:cNvSpPr txBox="1"/>
          <p:nvPr/>
        </p:nvSpPr>
        <p:spPr>
          <a:xfrm>
            <a:off x="731520" y="4572000"/>
            <a:ext cx="10789920" cy="640080"/>
          </a:xfrm>
          <a:prstGeom prst="rect">
            <a:avLst/>
          </a:prstGeom>
          <a:noFill/>
        </p:spPr>
        <p:txBody>
          <a:bodyPr wrap="square" lIns="45720" rIns="45720" tIns="27432" bIns="27432">
            <a:spAutoFit/>
          </a:bodyPr>
          <a:lstStyle/>
          <a:p>
            <a:pPr>
              <a:defRPr sz="1600" b="1">
                <a:solidFill>
                  <a:srgbClr val="143053"/>
                </a:solidFill>
              </a:defRPr>
            </a:pPr>
            <a:r>
              <a:t>Jurisdiction awareness is not a country label. It changes rule modules, warnings, owners, and review requirements. [R3-R9]</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0" y="0"/>
            <a:ext cx="12191695" cy="548640"/>
          </a:xfrm>
          <a:prstGeom prst="rect">
            <a:avLst/>
          </a:prstGeom>
          <a:solidFill>
            <a:srgbClr val="143053"/>
          </a:solidFill>
          <a:ln>
            <a:solidFill>
              <a:srgbClr val="14305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430000" cy="384048"/>
          </a:xfrm>
          <a:prstGeom prst="rect">
            <a:avLst/>
          </a:prstGeom>
          <a:noFill/>
        </p:spPr>
        <p:txBody>
          <a:bodyPr wrap="none">
            <a:spAutoFit/>
          </a:bodyPr>
          <a:lstStyle/>
          <a:p>
            <a:pPr>
              <a:defRPr sz="2200" b="1">
                <a:solidFill>
                  <a:srgbClr val="FFFFFF"/>
                </a:solidFill>
              </a:defRPr>
            </a:pPr>
            <a:r>
              <a:t>5. Scoring methodology and synthetic data</a:t>
            </a:r>
          </a:p>
        </p:txBody>
      </p:sp>
      <p:sp>
        <p:nvSpPr>
          <p:cNvPr id="4" name="TextBox 3"/>
          <p:cNvSpPr txBox="1"/>
          <p:nvPr/>
        </p:nvSpPr>
        <p:spPr>
          <a:xfrm>
            <a:off x="502920" y="685800"/>
            <a:ext cx="10972800" cy="320040"/>
          </a:xfrm>
          <a:prstGeom prst="rect">
            <a:avLst/>
          </a:prstGeom>
          <a:noFill/>
        </p:spPr>
        <p:txBody>
          <a:bodyPr wrap="none">
            <a:spAutoFit/>
          </a:bodyPr>
          <a:lstStyle/>
          <a:p>
            <a:pPr>
              <a:defRPr sz="1200">
                <a:solidFill>
                  <a:srgbClr val="5B6778"/>
                </a:solidFill>
              </a:defRPr>
            </a:pPr>
            <a:r>
              <a:t>The architecture includes simulated inputs and threshold logic</a:t>
            </a:r>
          </a:p>
        </p:txBody>
      </p:sp>
      <p:graphicFrame>
        <p:nvGraphicFramePr>
          <p:cNvPr id="5" name="Table 4"/>
          <p:cNvGraphicFramePr>
            <a:graphicFrameLocks noGrp="1"/>
          </p:cNvGraphicFramePr>
          <p:nvPr/>
        </p:nvGraphicFramePr>
        <p:xfrm>
          <a:off x="548640" y="1005840"/>
          <a:ext cx="11064240" cy="2926080"/>
        </p:xfrm>
        <a:graphic>
          <a:graphicData uri="http://schemas.openxmlformats.org/drawingml/2006/table">
            <a:tbl>
              <a:tblPr firstRow="1" bandRow="1">
                <a:tableStyleId>{5C22544A-7EE6-4342-B048-85BDC9FD1C3A}</a:tableStyleId>
              </a:tblPr>
              <a:tblGrid>
                <a:gridCol w="2286000"/>
                <a:gridCol w="4206240"/>
                <a:gridCol w="4572000"/>
              </a:tblGrid>
              <a:tr h="487680">
                <a:tc>
                  <a:txBody>
                    <a:bodyPr/>
                    <a:lstStyle/>
                    <a:p>
                      <a:pPr>
                        <a:defRPr sz="1000" b="1">
                          <a:solidFill>
                            <a:srgbClr val="222B37"/>
                          </a:solidFill>
                        </a:defRPr>
                      </a:pPr>
                      <a:r>
                        <a:t>Metric</a:t>
                      </a:r>
                    </a:p>
                  </a:txBody>
                  <a:tcPr marL="45720" marR="45720" marT="27432" marB="27432">
                    <a:solidFill>
                      <a:srgbClr val="E8F0F8"/>
                    </a:solidFill>
                  </a:tcPr>
                </a:tc>
                <a:tc>
                  <a:txBody>
                    <a:bodyPr/>
                    <a:lstStyle/>
                    <a:p>
                      <a:pPr>
                        <a:defRPr sz="1000" b="1">
                          <a:solidFill>
                            <a:srgbClr val="222B37"/>
                          </a:solidFill>
                        </a:defRPr>
                      </a:pPr>
                      <a:r>
                        <a:t>Formula / meaning</a:t>
                      </a:r>
                    </a:p>
                  </a:txBody>
                  <a:tcPr marL="45720" marR="45720" marT="27432" marB="27432">
                    <a:solidFill>
                      <a:srgbClr val="E8F0F8"/>
                    </a:solidFill>
                  </a:tcPr>
                </a:tc>
                <a:tc>
                  <a:txBody>
                    <a:bodyPr/>
                    <a:lstStyle/>
                    <a:p>
                      <a:pPr>
                        <a:defRPr sz="1000" b="1">
                          <a:solidFill>
                            <a:srgbClr val="222B37"/>
                          </a:solidFill>
                        </a:defRPr>
                      </a:pPr>
                      <a:r>
                        <a:t>Why it matters</a:t>
                      </a:r>
                    </a:p>
                  </a:txBody>
                  <a:tcPr marL="45720" marR="45720" marT="27432" marB="27432">
                    <a:solidFill>
                      <a:srgbClr val="E8F0F8"/>
                    </a:solidFill>
                  </a:tcPr>
                </a:tc>
              </a:tr>
              <a:tr h="487680">
                <a:tc>
                  <a:txBody>
                    <a:bodyPr/>
                    <a:lstStyle/>
                    <a:p>
                      <a:pPr>
                        <a:defRPr sz="1000" b="0">
                          <a:solidFill>
                            <a:srgbClr val="222B37"/>
                          </a:solidFill>
                        </a:defRPr>
                      </a:pPr>
                      <a:r>
                        <a:t>Evidence Coverage Ratio</a:t>
                      </a:r>
                    </a:p>
                  </a:txBody>
                  <a:tcPr marL="45720" marR="45720" marT="27432" marB="27432">
                    <a:solidFill>
                      <a:srgbClr val="FFFFFF"/>
                    </a:solidFill>
                  </a:tcPr>
                </a:tc>
                <a:tc>
                  <a:txBody>
                    <a:bodyPr/>
                    <a:lstStyle/>
                    <a:p>
                      <a:pPr>
                        <a:defRPr sz="1000" b="0">
                          <a:solidFill>
                            <a:srgbClr val="222B37"/>
                          </a:solidFill>
                        </a:defRPr>
                      </a:pPr>
                      <a:r>
                        <a:t>supported material claims / total material claims</a:t>
                      </a:r>
                    </a:p>
                  </a:txBody>
                  <a:tcPr marL="45720" marR="45720" marT="27432" marB="27432">
                    <a:solidFill>
                      <a:srgbClr val="FFFFFF"/>
                    </a:solidFill>
                  </a:tcPr>
                </a:tc>
                <a:tc>
                  <a:txBody>
                    <a:bodyPr/>
                    <a:lstStyle/>
                    <a:p>
                      <a:pPr>
                        <a:defRPr sz="1000" b="0">
                          <a:solidFill>
                            <a:srgbClr val="222B37"/>
                          </a:solidFill>
                        </a:defRPr>
                      </a:pPr>
                      <a:r>
                        <a:t>Tests whether the narrative is substantively supported</a:t>
                      </a:r>
                    </a:p>
                  </a:txBody>
                  <a:tcPr marL="45720" marR="45720" marT="27432" marB="27432">
                    <a:solidFill>
                      <a:srgbClr val="FFFFFF"/>
                    </a:solidFill>
                  </a:tcPr>
                </a:tc>
              </a:tr>
              <a:tr h="487680">
                <a:tc>
                  <a:txBody>
                    <a:bodyPr/>
                    <a:lstStyle/>
                    <a:p>
                      <a:pPr>
                        <a:defRPr sz="1000" b="0">
                          <a:solidFill>
                            <a:srgbClr val="222B37"/>
                          </a:solidFill>
                        </a:defRPr>
                      </a:pPr>
                      <a:r>
                        <a:t>Unsupported Claim Rate</a:t>
                      </a:r>
                    </a:p>
                  </a:txBody>
                  <a:tcPr marL="45720" marR="45720" marT="27432" marB="27432">
                    <a:solidFill>
                      <a:srgbClr val="FFFFFF"/>
                    </a:solidFill>
                  </a:tcPr>
                </a:tc>
                <a:tc>
                  <a:txBody>
                    <a:bodyPr/>
                    <a:lstStyle/>
                    <a:p>
                      <a:pPr>
                        <a:defRPr sz="1000" b="0">
                          <a:solidFill>
                            <a:srgbClr val="222B37"/>
                          </a:solidFill>
                        </a:defRPr>
                      </a:pPr>
                      <a:r>
                        <a:t>unsupported AI claims / total AI claims</a:t>
                      </a:r>
                    </a:p>
                  </a:txBody>
                  <a:tcPr marL="45720" marR="45720" marT="27432" marB="27432">
                    <a:solidFill>
                      <a:srgbClr val="FFFFFF"/>
                    </a:solidFill>
                  </a:tcPr>
                </a:tc>
                <a:tc>
                  <a:txBody>
                    <a:bodyPr/>
                    <a:lstStyle/>
                    <a:p>
                      <a:pPr>
                        <a:defRPr sz="1000" b="0">
                          <a:solidFill>
                            <a:srgbClr val="222B37"/>
                          </a:solidFill>
                        </a:defRPr>
                      </a:pPr>
                      <a:r>
                        <a:t>Detects hallucination and overconfidence</a:t>
                      </a:r>
                    </a:p>
                  </a:txBody>
                  <a:tcPr marL="45720" marR="45720" marT="27432" marB="27432">
                    <a:solidFill>
                      <a:srgbClr val="FFFFFF"/>
                    </a:solidFill>
                  </a:tcPr>
                </a:tc>
              </a:tr>
              <a:tr h="487680">
                <a:tc>
                  <a:txBody>
                    <a:bodyPr/>
                    <a:lstStyle/>
                    <a:p>
                      <a:pPr>
                        <a:defRPr sz="1000" b="0">
                          <a:solidFill>
                            <a:srgbClr val="222B37"/>
                          </a:solidFill>
                        </a:defRPr>
                      </a:pPr>
                      <a:r>
                        <a:t>Contradiction Count</a:t>
                      </a:r>
                    </a:p>
                  </a:txBody>
                  <a:tcPr marL="45720" marR="45720" marT="27432" marB="27432">
                    <a:solidFill>
                      <a:srgbClr val="FFFFFF"/>
                    </a:solidFill>
                  </a:tcPr>
                </a:tc>
                <a:tc>
                  <a:txBody>
                    <a:bodyPr/>
                    <a:lstStyle/>
                    <a:p>
                      <a:pPr>
                        <a:defRPr sz="1000" b="0">
                          <a:solidFill>
                            <a:srgbClr val="222B37"/>
                          </a:solidFill>
                        </a:defRPr>
                      </a:pPr>
                      <a:r>
                        <a:t>material conflicts between AI report and documents</a:t>
                      </a:r>
                    </a:p>
                  </a:txBody>
                  <a:tcPr marL="45720" marR="45720" marT="27432" marB="27432">
                    <a:solidFill>
                      <a:srgbClr val="FFFFFF"/>
                    </a:solidFill>
                  </a:tcPr>
                </a:tc>
                <a:tc>
                  <a:txBody>
                    <a:bodyPr/>
                    <a:lstStyle/>
                    <a:p>
                      <a:pPr>
                        <a:defRPr sz="1000" b="0">
                          <a:solidFill>
                            <a:srgbClr val="222B37"/>
                          </a:solidFill>
                        </a:defRPr>
                      </a:pPr>
                      <a:r>
                        <a:t>Detects unreliable KYC conclusions</a:t>
                      </a:r>
                    </a:p>
                  </a:txBody>
                  <a:tcPr marL="45720" marR="45720" marT="27432" marB="27432">
                    <a:solidFill>
                      <a:srgbClr val="FFFFFF"/>
                    </a:solidFill>
                  </a:tcPr>
                </a:tc>
              </a:tr>
              <a:tr h="487680">
                <a:tc>
                  <a:txBody>
                    <a:bodyPr/>
                    <a:lstStyle/>
                    <a:p>
                      <a:pPr>
                        <a:defRPr sz="1000" b="0">
                          <a:solidFill>
                            <a:srgbClr val="222B37"/>
                          </a:solidFill>
                        </a:defRPr>
                      </a:pPr>
                      <a:r>
                        <a:t>Human Challenge Rate</a:t>
                      </a:r>
                    </a:p>
                  </a:txBody>
                  <a:tcPr marL="45720" marR="45720" marT="27432" marB="27432">
                    <a:solidFill>
                      <a:srgbClr val="FFFFFF"/>
                    </a:solidFill>
                  </a:tcPr>
                </a:tc>
                <a:tc>
                  <a:txBody>
                    <a:bodyPr/>
                    <a:lstStyle/>
                    <a:p>
                      <a:pPr>
                        <a:defRPr sz="1000" b="0">
                          <a:solidFill>
                            <a:srgbClr val="222B37"/>
                          </a:solidFill>
                        </a:defRPr>
                      </a:pPr>
                      <a:r>
                        <a:t>reviewer amendments/rejections/escalations / AI-assisted cases</a:t>
                      </a:r>
                    </a:p>
                  </a:txBody>
                  <a:tcPr marL="45720" marR="45720" marT="27432" marB="27432">
                    <a:solidFill>
                      <a:srgbClr val="FFFFFF"/>
                    </a:solidFill>
                  </a:tcPr>
                </a:tc>
                <a:tc>
                  <a:txBody>
                    <a:bodyPr/>
                    <a:lstStyle/>
                    <a:p>
                      <a:pPr>
                        <a:defRPr sz="1000" b="0">
                          <a:solidFill>
                            <a:srgbClr val="222B37"/>
                          </a:solidFill>
                        </a:defRPr>
                      </a:pPr>
                      <a:r>
                        <a:t>Detects rubber-stamping</a:t>
                      </a:r>
                    </a:p>
                  </a:txBody>
                  <a:tcPr marL="45720" marR="45720" marT="27432" marB="27432">
                    <a:solidFill>
                      <a:srgbClr val="FFFFFF"/>
                    </a:solidFill>
                  </a:tcPr>
                </a:tc>
              </a:tr>
              <a:tr h="487680">
                <a:tc>
                  <a:txBody>
                    <a:bodyPr/>
                    <a:lstStyle/>
                    <a:p>
                      <a:pPr>
                        <a:defRPr sz="1000" b="0">
                          <a:solidFill>
                            <a:srgbClr val="222B37"/>
                          </a:solidFill>
                        </a:defRPr>
                      </a:pPr>
                      <a:r>
                        <a:t>Model Drift Flag</a:t>
                      </a:r>
                    </a:p>
                  </a:txBody>
                  <a:tcPr marL="45720" marR="45720" marT="27432" marB="27432">
                    <a:solidFill>
                      <a:srgbClr val="FFFFFF"/>
                    </a:solidFill>
                  </a:tcPr>
                </a:tc>
                <a:tc>
                  <a:txBody>
                    <a:bodyPr/>
                    <a:lstStyle/>
                    <a:p>
                      <a:pPr>
                        <a:defRPr sz="1000" b="0">
                          <a:solidFill>
                            <a:srgbClr val="222B37"/>
                          </a:solidFill>
                        </a:defRPr>
                      </a:pPr>
                      <a:r>
                        <a:t>change in output quality or review corrections</a:t>
                      </a:r>
                    </a:p>
                  </a:txBody>
                  <a:tcPr marL="45720" marR="45720" marT="27432" marB="27432">
                    <a:solidFill>
                      <a:srgbClr val="FFFFFF"/>
                    </a:solidFill>
                  </a:tcPr>
                </a:tc>
                <a:tc>
                  <a:txBody>
                    <a:bodyPr/>
                    <a:lstStyle/>
                    <a:p>
                      <a:pPr>
                        <a:defRPr sz="1000" b="0">
                          <a:solidFill>
                            <a:srgbClr val="222B37"/>
                          </a:solidFill>
                        </a:defRPr>
                      </a:pPr>
                      <a:r>
                        <a:t>Triggers model-risk review</a:t>
                      </a:r>
                    </a:p>
                  </a:txBody>
                  <a:tcPr marL="45720" marR="45720" marT="27432" marB="27432">
                    <a:solidFill>
                      <a:srgbClr val="FFFFFF"/>
                    </a:solidFill>
                  </a:tcPr>
                </a:tc>
              </a:tr>
            </a:tbl>
          </a:graphicData>
        </a:graphic>
      </p:graphicFrame>
      <p:sp>
        <p:nvSpPr>
          <p:cNvPr id="6" name="Rounded Rectangle 5"/>
          <p:cNvSpPr/>
          <p:nvPr/>
        </p:nvSpPr>
        <p:spPr>
          <a:xfrm>
            <a:off x="731520" y="4572000"/>
            <a:ext cx="3474720" cy="1005840"/>
          </a:xfrm>
          <a:prstGeom prst="roundRect">
            <a:avLst/>
          </a:prstGeom>
          <a:solidFill>
            <a:srgbClr val="FFFFFF"/>
          </a:solidFill>
          <a:ln>
            <a:solidFill>
              <a:srgbClr val="D0D8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4709160"/>
            <a:ext cx="3200400" cy="320040"/>
          </a:xfrm>
          <a:prstGeom prst="rect">
            <a:avLst/>
          </a:prstGeom>
          <a:noFill/>
        </p:spPr>
        <p:txBody>
          <a:bodyPr wrap="square" lIns="45720" rIns="45720" tIns="27432" bIns="27432">
            <a:spAutoFit/>
          </a:bodyPr>
          <a:lstStyle/>
          <a:p>
            <a:pPr>
              <a:defRPr sz="1400" b="1">
                <a:solidFill>
                  <a:srgbClr val="24825D"/>
                </a:solidFill>
              </a:defRPr>
            </a:pPr>
            <a:r>
              <a:t>Synthetic data</a:t>
            </a:r>
          </a:p>
        </p:txBody>
      </p:sp>
      <p:sp>
        <p:nvSpPr>
          <p:cNvPr id="8" name="TextBox 7"/>
          <p:cNvSpPr txBox="1"/>
          <p:nvPr/>
        </p:nvSpPr>
        <p:spPr>
          <a:xfrm>
            <a:off x="868680" y="5074920"/>
            <a:ext cx="3200400" cy="365760"/>
          </a:xfrm>
          <a:prstGeom prst="rect">
            <a:avLst/>
          </a:prstGeom>
          <a:noFill/>
        </p:spPr>
        <p:txBody>
          <a:bodyPr wrap="square" lIns="45720" rIns="45720" tIns="27432" bIns="27432">
            <a:spAutoFit/>
          </a:bodyPr>
          <a:lstStyle/>
          <a:p>
            <a:pPr>
              <a:defRPr sz="1200" b="0">
                <a:solidFill>
                  <a:srgbClr val="222B37"/>
                </a:solidFill>
              </a:defRPr>
            </a:pPr>
            <a:r>
              <a:t>30 simulated source-of-wealth cases are included in /data with a data dictionary.</a:t>
            </a:r>
          </a:p>
        </p:txBody>
      </p:sp>
      <p:sp>
        <p:nvSpPr>
          <p:cNvPr id="9" name="Rounded Rectangle 8"/>
          <p:cNvSpPr/>
          <p:nvPr/>
        </p:nvSpPr>
        <p:spPr>
          <a:xfrm>
            <a:off x="4480560" y="4572000"/>
            <a:ext cx="3474720" cy="1005840"/>
          </a:xfrm>
          <a:prstGeom prst="roundRect">
            <a:avLst/>
          </a:prstGeom>
          <a:solidFill>
            <a:srgbClr val="FFFFFF"/>
          </a:solidFill>
          <a:ln>
            <a:solidFill>
              <a:srgbClr val="D0D8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17720" y="4709160"/>
            <a:ext cx="3200400" cy="320040"/>
          </a:xfrm>
          <a:prstGeom prst="rect">
            <a:avLst/>
          </a:prstGeom>
          <a:noFill/>
        </p:spPr>
        <p:txBody>
          <a:bodyPr wrap="square" lIns="45720" rIns="45720" tIns="27432" bIns="27432">
            <a:spAutoFit/>
          </a:bodyPr>
          <a:lstStyle/>
          <a:p>
            <a:pPr>
              <a:defRPr sz="1400" b="1">
                <a:solidFill>
                  <a:srgbClr val="235EA3"/>
                </a:solidFill>
              </a:defRPr>
            </a:pPr>
            <a:r>
              <a:t>Threshold output</a:t>
            </a:r>
          </a:p>
        </p:txBody>
      </p:sp>
      <p:sp>
        <p:nvSpPr>
          <p:cNvPr id="11" name="TextBox 10"/>
          <p:cNvSpPr txBox="1"/>
          <p:nvPr/>
        </p:nvSpPr>
        <p:spPr>
          <a:xfrm>
            <a:off x="4617720" y="5074920"/>
            <a:ext cx="3200400" cy="365760"/>
          </a:xfrm>
          <a:prstGeom prst="rect">
            <a:avLst/>
          </a:prstGeom>
          <a:noFill/>
        </p:spPr>
        <p:txBody>
          <a:bodyPr wrap="square" lIns="45720" rIns="45720" tIns="27432" bIns="27432">
            <a:spAutoFit/>
          </a:bodyPr>
          <a:lstStyle/>
          <a:p>
            <a:pPr>
              <a:defRPr sz="1200" b="0">
                <a:solidFill>
                  <a:srgbClr val="222B37"/>
                </a:solidFill>
              </a:defRPr>
            </a:pPr>
            <a:r>
              <a:t>Green, Amber, Red Friction, Amber + Governance Gap, Red Friction + Governance Gap.</a:t>
            </a:r>
          </a:p>
        </p:txBody>
      </p:sp>
      <p:sp>
        <p:nvSpPr>
          <p:cNvPr id="12" name="Rounded Rectangle 11"/>
          <p:cNvSpPr/>
          <p:nvPr/>
        </p:nvSpPr>
        <p:spPr>
          <a:xfrm>
            <a:off x="8229600" y="4572000"/>
            <a:ext cx="3474720" cy="1005840"/>
          </a:xfrm>
          <a:prstGeom prst="roundRect">
            <a:avLst/>
          </a:prstGeom>
          <a:solidFill>
            <a:srgbClr val="FFFFFF"/>
          </a:solidFill>
          <a:ln>
            <a:solidFill>
              <a:srgbClr val="D0D8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66760" y="4709160"/>
            <a:ext cx="3200400" cy="320040"/>
          </a:xfrm>
          <a:prstGeom prst="rect">
            <a:avLst/>
          </a:prstGeom>
          <a:noFill/>
        </p:spPr>
        <p:txBody>
          <a:bodyPr wrap="square" lIns="45720" rIns="45720" tIns="27432" bIns="27432">
            <a:spAutoFit/>
          </a:bodyPr>
          <a:lstStyle/>
          <a:p>
            <a:pPr>
              <a:defRPr sz="1400" b="1">
                <a:solidFill>
                  <a:srgbClr val="B53D35"/>
                </a:solidFill>
              </a:defRPr>
            </a:pPr>
            <a:r>
              <a:t>Limit</a:t>
            </a:r>
          </a:p>
        </p:txBody>
      </p:sp>
      <p:sp>
        <p:nvSpPr>
          <p:cNvPr id="14" name="TextBox 13"/>
          <p:cNvSpPr txBox="1"/>
          <p:nvPr/>
        </p:nvSpPr>
        <p:spPr>
          <a:xfrm>
            <a:off x="8366760" y="5074920"/>
            <a:ext cx="3200400" cy="365760"/>
          </a:xfrm>
          <a:prstGeom prst="rect">
            <a:avLst/>
          </a:prstGeom>
          <a:noFill/>
        </p:spPr>
        <p:txBody>
          <a:bodyPr wrap="square" lIns="45720" rIns="45720" tIns="27432" bIns="27432">
            <a:spAutoFit/>
          </a:bodyPr>
          <a:lstStyle/>
          <a:p>
            <a:pPr>
              <a:defRPr sz="1200" b="0">
                <a:solidFill>
                  <a:srgbClr val="222B37"/>
                </a:solidFill>
              </a:defRPr>
            </a:pPr>
            <a:r>
              <a:t>Thresholds are illustrative and not calibrated against real OCBC data.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0" y="0"/>
            <a:ext cx="12191695" cy="548640"/>
          </a:xfrm>
          <a:prstGeom prst="rect">
            <a:avLst/>
          </a:prstGeom>
          <a:solidFill>
            <a:srgbClr val="143053"/>
          </a:solidFill>
          <a:ln>
            <a:solidFill>
              <a:srgbClr val="14305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430000" cy="384048"/>
          </a:xfrm>
          <a:prstGeom prst="rect">
            <a:avLst/>
          </a:prstGeom>
          <a:noFill/>
        </p:spPr>
        <p:txBody>
          <a:bodyPr wrap="none">
            <a:spAutoFit/>
          </a:bodyPr>
          <a:lstStyle/>
          <a:p>
            <a:pPr>
              <a:defRPr sz="2200" b="1">
                <a:solidFill>
                  <a:srgbClr val="FFFFFF"/>
                </a:solidFill>
              </a:defRPr>
            </a:pPr>
            <a:r>
              <a:t>6. Same case, different jurisdiction output</a:t>
            </a:r>
          </a:p>
        </p:txBody>
      </p:sp>
      <p:sp>
        <p:nvSpPr>
          <p:cNvPr id="4" name="TextBox 3"/>
          <p:cNvSpPr txBox="1"/>
          <p:nvPr/>
        </p:nvSpPr>
        <p:spPr>
          <a:xfrm>
            <a:off x="502920" y="685800"/>
            <a:ext cx="10972800" cy="320040"/>
          </a:xfrm>
          <a:prstGeom prst="rect">
            <a:avLst/>
          </a:prstGeom>
          <a:noFill/>
        </p:spPr>
        <p:txBody>
          <a:bodyPr wrap="none">
            <a:spAutoFit/>
          </a:bodyPr>
          <a:lstStyle/>
          <a:p>
            <a:pPr>
              <a:defRPr sz="1200">
                <a:solidFill>
                  <a:srgbClr val="5B6778"/>
                </a:solidFill>
              </a:defRPr>
            </a:pPr>
            <a:r>
              <a:t>A synthetic red-friction case shows the rule engine in action</a:t>
            </a:r>
          </a:p>
        </p:txBody>
      </p:sp>
      <p:pic>
        <p:nvPicPr>
          <p:cNvPr id="5" name="Picture 4" descr="Mockup_2_Case_Jurisdiction_Output.png"/>
          <p:cNvPicPr>
            <a:picLocks noChangeAspect="1"/>
          </p:cNvPicPr>
          <p:nvPr/>
        </p:nvPicPr>
        <p:blipFill>
          <a:blip r:embed="rId2"/>
          <a:stretch>
            <a:fillRect/>
          </a:stretch>
        </p:blipFill>
        <p:spPr>
          <a:xfrm>
            <a:off x="640080" y="1005840"/>
            <a:ext cx="10881360" cy="680085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0" y="0"/>
            <a:ext cx="12191695" cy="548640"/>
          </a:xfrm>
          <a:prstGeom prst="rect">
            <a:avLst/>
          </a:prstGeom>
          <a:solidFill>
            <a:srgbClr val="143053"/>
          </a:solidFill>
          <a:ln>
            <a:solidFill>
              <a:srgbClr val="14305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430000" cy="384048"/>
          </a:xfrm>
          <a:prstGeom prst="rect">
            <a:avLst/>
          </a:prstGeom>
          <a:noFill/>
        </p:spPr>
        <p:txBody>
          <a:bodyPr wrap="none">
            <a:spAutoFit/>
          </a:bodyPr>
          <a:lstStyle/>
          <a:p>
            <a:pPr>
              <a:defRPr sz="2200" b="1">
                <a:solidFill>
                  <a:srgbClr val="FFFFFF"/>
                </a:solidFill>
              </a:defRPr>
            </a:pPr>
            <a:r>
              <a:t>7. Human judgment cannot be outsourced</a:t>
            </a:r>
          </a:p>
        </p:txBody>
      </p:sp>
      <p:sp>
        <p:nvSpPr>
          <p:cNvPr id="4" name="TextBox 3"/>
          <p:cNvSpPr txBox="1"/>
          <p:nvPr/>
        </p:nvSpPr>
        <p:spPr>
          <a:xfrm>
            <a:off x="502920" y="685800"/>
            <a:ext cx="10972800" cy="320040"/>
          </a:xfrm>
          <a:prstGeom prst="rect">
            <a:avLst/>
          </a:prstGeom>
          <a:noFill/>
        </p:spPr>
        <p:txBody>
          <a:bodyPr wrap="none">
            <a:spAutoFit/>
          </a:bodyPr>
          <a:lstStyle/>
          <a:p>
            <a:pPr>
              <a:defRPr sz="1200">
                <a:solidFill>
                  <a:srgbClr val="5B6778"/>
                </a:solidFill>
              </a:defRPr>
            </a:pPr>
            <a:r>
              <a:t>Human challenge is measured, not assumed</a:t>
            </a:r>
          </a:p>
        </p:txBody>
      </p:sp>
      <p:pic>
        <p:nvPicPr>
          <p:cNvPr id="5" name="Picture 4" descr="Mockup_4_Human_Challenge_Log.png"/>
          <p:cNvPicPr>
            <a:picLocks noChangeAspect="1"/>
          </p:cNvPicPr>
          <p:nvPr/>
        </p:nvPicPr>
        <p:blipFill>
          <a:blip r:embed="rId2"/>
          <a:stretch>
            <a:fillRect/>
          </a:stretch>
        </p:blipFill>
        <p:spPr>
          <a:xfrm>
            <a:off x="640080" y="1005840"/>
            <a:ext cx="10881360" cy="680085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0" y="0"/>
            <a:ext cx="12191695" cy="548640"/>
          </a:xfrm>
          <a:prstGeom prst="rect">
            <a:avLst/>
          </a:prstGeom>
          <a:solidFill>
            <a:srgbClr val="143053"/>
          </a:solidFill>
          <a:ln>
            <a:solidFill>
              <a:srgbClr val="14305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430000" cy="384048"/>
          </a:xfrm>
          <a:prstGeom prst="rect">
            <a:avLst/>
          </a:prstGeom>
          <a:noFill/>
        </p:spPr>
        <p:txBody>
          <a:bodyPr wrap="none">
            <a:spAutoFit/>
          </a:bodyPr>
          <a:lstStyle/>
          <a:p>
            <a:pPr>
              <a:defRPr sz="2200" b="1">
                <a:solidFill>
                  <a:srgbClr val="FFFFFF"/>
                </a:solidFill>
              </a:defRPr>
            </a:pPr>
            <a:r>
              <a:t>8. Failure modes and owners</a:t>
            </a:r>
          </a:p>
        </p:txBody>
      </p:sp>
      <p:sp>
        <p:nvSpPr>
          <p:cNvPr id="4" name="TextBox 3"/>
          <p:cNvSpPr txBox="1"/>
          <p:nvPr/>
        </p:nvSpPr>
        <p:spPr>
          <a:xfrm>
            <a:off x="502920" y="685800"/>
            <a:ext cx="10972800" cy="320040"/>
          </a:xfrm>
          <a:prstGeom prst="rect">
            <a:avLst/>
          </a:prstGeom>
          <a:noFill/>
        </p:spPr>
        <p:txBody>
          <a:bodyPr wrap="none">
            <a:spAutoFit/>
          </a:bodyPr>
          <a:lstStyle/>
          <a:p>
            <a:pPr>
              <a:defRPr sz="1200">
                <a:solidFill>
                  <a:srgbClr val="5B6778"/>
                </a:solidFill>
              </a:defRPr>
            </a:pPr>
            <a:r>
              <a:t>The design names who owns the failure response</a:t>
            </a:r>
          </a:p>
        </p:txBody>
      </p:sp>
      <p:graphicFrame>
        <p:nvGraphicFramePr>
          <p:cNvPr id="5" name="Table 4"/>
          <p:cNvGraphicFramePr>
            <a:graphicFrameLocks noGrp="1"/>
          </p:cNvGraphicFramePr>
          <p:nvPr/>
        </p:nvGraphicFramePr>
        <p:xfrm>
          <a:off x="457200" y="1005840"/>
          <a:ext cx="11064240" cy="4114800"/>
        </p:xfrm>
        <a:graphic>
          <a:graphicData uri="http://schemas.openxmlformats.org/drawingml/2006/table">
            <a:tbl>
              <a:tblPr firstRow="1" bandRow="1">
                <a:tableStyleId>{5C22544A-7EE6-4342-B048-85BDC9FD1C3A}</a:tableStyleId>
              </a:tblPr>
              <a:tblGrid>
                <a:gridCol w="2377440"/>
                <a:gridCol w="1188720"/>
                <a:gridCol w="4114800"/>
                <a:gridCol w="3383280"/>
              </a:tblGrid>
              <a:tr h="587828">
                <a:tc>
                  <a:txBody>
                    <a:bodyPr/>
                    <a:lstStyle/>
                    <a:p>
                      <a:pPr>
                        <a:defRPr sz="900" b="1">
                          <a:solidFill>
                            <a:srgbClr val="222B37"/>
                          </a:solidFill>
                        </a:defRPr>
                      </a:pPr>
                      <a:r>
                        <a:t>Failure mode</a:t>
                      </a:r>
                    </a:p>
                  </a:txBody>
                  <a:tcPr marL="45720" marR="45720" marT="27432" marB="27432">
                    <a:solidFill>
                      <a:srgbClr val="E8F0F8"/>
                    </a:solidFill>
                  </a:tcPr>
                </a:tc>
                <a:tc>
                  <a:txBody>
                    <a:bodyPr/>
                    <a:lstStyle/>
                    <a:p>
                      <a:pPr>
                        <a:defRPr sz="900" b="1">
                          <a:solidFill>
                            <a:srgbClr val="222B37"/>
                          </a:solidFill>
                        </a:defRPr>
                      </a:pPr>
                      <a:r>
                        <a:t>Severity</a:t>
                      </a:r>
                    </a:p>
                  </a:txBody>
                  <a:tcPr marL="45720" marR="45720" marT="27432" marB="27432">
                    <a:solidFill>
                      <a:srgbClr val="E8F0F8"/>
                    </a:solidFill>
                  </a:tcPr>
                </a:tc>
                <a:tc>
                  <a:txBody>
                    <a:bodyPr/>
                    <a:lstStyle/>
                    <a:p>
                      <a:pPr>
                        <a:defRPr sz="900" b="1">
                          <a:solidFill>
                            <a:srgbClr val="222B37"/>
                          </a:solidFill>
                        </a:defRPr>
                      </a:pPr>
                      <a:r>
                        <a:t>Control</a:t>
                      </a:r>
                    </a:p>
                  </a:txBody>
                  <a:tcPr marL="45720" marR="45720" marT="27432" marB="27432">
                    <a:solidFill>
                      <a:srgbClr val="E8F0F8"/>
                    </a:solidFill>
                  </a:tcPr>
                </a:tc>
                <a:tc>
                  <a:txBody>
                    <a:bodyPr/>
                    <a:lstStyle/>
                    <a:p>
                      <a:pPr>
                        <a:defRPr sz="900" b="1">
                          <a:solidFill>
                            <a:srgbClr val="222B37"/>
                          </a:solidFill>
                        </a:defRPr>
                      </a:pPr>
                      <a:r>
                        <a:t>Owner</a:t>
                      </a:r>
                    </a:p>
                  </a:txBody>
                  <a:tcPr marL="45720" marR="45720" marT="27432" marB="27432">
                    <a:solidFill>
                      <a:srgbClr val="E8F0F8"/>
                    </a:solidFill>
                  </a:tcPr>
                </a:tc>
              </a:tr>
              <a:tr h="587828">
                <a:tc>
                  <a:txBody>
                    <a:bodyPr/>
                    <a:lstStyle/>
                    <a:p>
                      <a:pPr>
                        <a:defRPr sz="900" b="0">
                          <a:solidFill>
                            <a:srgbClr val="222B37"/>
                          </a:solidFill>
                        </a:defRPr>
                      </a:pPr>
                      <a:r>
                        <a:t>Rule changes mid-period</a:t>
                      </a:r>
                    </a:p>
                  </a:txBody>
                  <a:tcPr marL="45720" marR="45720" marT="27432" marB="27432">
                    <a:solidFill>
                      <a:srgbClr val="FFFFFF"/>
                    </a:solidFill>
                  </a:tcPr>
                </a:tc>
                <a:tc>
                  <a:txBody>
                    <a:bodyPr/>
                    <a:lstStyle/>
                    <a:p>
                      <a:pPr>
                        <a:defRPr sz="900" b="0">
                          <a:solidFill>
                            <a:srgbClr val="222B37"/>
                          </a:solidFill>
                        </a:defRPr>
                      </a:pPr>
                      <a:r>
                        <a:t>High</a:t>
                      </a:r>
                    </a:p>
                  </a:txBody>
                  <a:tcPr marL="45720" marR="45720" marT="27432" marB="27432">
                    <a:solidFill>
                      <a:srgbClr val="FFFFFF"/>
                    </a:solidFill>
                  </a:tcPr>
                </a:tc>
                <a:tc>
                  <a:txBody>
                    <a:bodyPr/>
                    <a:lstStyle/>
                    <a:p>
                      <a:pPr>
                        <a:defRPr sz="900" b="0">
                          <a:solidFill>
                            <a:srgbClr val="222B37"/>
                          </a:solidFill>
                        </a:defRPr>
                      </a:pPr>
                      <a:r>
                        <a:t>Versioning, rule-diff alert, open-case impact analysis</a:t>
                      </a:r>
                    </a:p>
                  </a:txBody>
                  <a:tcPr marL="45720" marR="45720" marT="27432" marB="27432">
                    <a:solidFill>
                      <a:srgbClr val="FFFFFF"/>
                    </a:solidFill>
                  </a:tcPr>
                </a:tc>
                <a:tc>
                  <a:txBody>
                    <a:bodyPr/>
                    <a:lstStyle/>
                    <a:p>
                      <a:pPr>
                        <a:defRPr sz="900" b="0">
                          <a:solidFill>
                            <a:srgbClr val="222B37"/>
                          </a:solidFill>
                        </a:defRPr>
                      </a:pPr>
                      <a:r>
                        <a:t>Compliance rule owner</a:t>
                      </a:r>
                    </a:p>
                  </a:txBody>
                  <a:tcPr marL="45720" marR="45720" marT="27432" marB="27432">
                    <a:solidFill>
                      <a:srgbClr val="FFFFFF"/>
                    </a:solidFill>
                  </a:tcPr>
                </a:tc>
              </a:tr>
              <a:tr h="587828">
                <a:tc>
                  <a:txBody>
                    <a:bodyPr/>
                    <a:lstStyle/>
                    <a:p>
                      <a:pPr>
                        <a:defRPr sz="900" b="0">
                          <a:solidFill>
                            <a:srgbClr val="222B37"/>
                          </a:solidFill>
                        </a:defRPr>
                      </a:pPr>
                      <a:r>
                        <a:t>Model drift</a:t>
                      </a:r>
                    </a:p>
                  </a:txBody>
                  <a:tcPr marL="45720" marR="45720" marT="27432" marB="27432">
                    <a:solidFill>
                      <a:srgbClr val="FFFFFF"/>
                    </a:solidFill>
                  </a:tcPr>
                </a:tc>
                <a:tc>
                  <a:txBody>
                    <a:bodyPr/>
                    <a:lstStyle/>
                    <a:p>
                      <a:pPr>
                        <a:defRPr sz="900" b="0">
                          <a:solidFill>
                            <a:srgbClr val="222B37"/>
                          </a:solidFill>
                        </a:defRPr>
                      </a:pPr>
                      <a:r>
                        <a:t>High</a:t>
                      </a:r>
                    </a:p>
                  </a:txBody>
                  <a:tcPr marL="45720" marR="45720" marT="27432" marB="27432">
                    <a:solidFill>
                      <a:srgbClr val="FFFFFF"/>
                    </a:solidFill>
                  </a:tcPr>
                </a:tc>
                <a:tc>
                  <a:txBody>
                    <a:bodyPr/>
                    <a:lstStyle/>
                    <a:p>
                      <a:pPr>
                        <a:defRPr sz="900" b="0">
                          <a:solidFill>
                            <a:srgbClr val="222B37"/>
                          </a:solidFill>
                        </a:defRPr>
                      </a:pPr>
                      <a:r>
                        <a:t>Drift thresholds and model-risk review</a:t>
                      </a:r>
                    </a:p>
                  </a:txBody>
                  <a:tcPr marL="45720" marR="45720" marT="27432" marB="27432">
                    <a:solidFill>
                      <a:srgbClr val="FFFFFF"/>
                    </a:solidFill>
                  </a:tcPr>
                </a:tc>
                <a:tc>
                  <a:txBody>
                    <a:bodyPr/>
                    <a:lstStyle/>
                    <a:p>
                      <a:pPr>
                        <a:defRPr sz="900" b="0">
                          <a:solidFill>
                            <a:srgbClr val="222B37"/>
                          </a:solidFill>
                        </a:defRPr>
                      </a:pPr>
                      <a:r>
                        <a:t>Model Risk Manager</a:t>
                      </a:r>
                    </a:p>
                  </a:txBody>
                  <a:tcPr marL="45720" marR="45720" marT="27432" marB="27432">
                    <a:solidFill>
                      <a:srgbClr val="FFFFFF"/>
                    </a:solidFill>
                  </a:tcPr>
                </a:tc>
              </a:tr>
              <a:tr h="587828">
                <a:tc>
                  <a:txBody>
                    <a:bodyPr/>
                    <a:lstStyle/>
                    <a:p>
                      <a:pPr>
                        <a:defRPr sz="900" b="0">
                          <a:solidFill>
                            <a:srgbClr val="222B37"/>
                          </a:solidFill>
                        </a:defRPr>
                      </a:pPr>
                      <a:r>
                        <a:t>Human rubber-stamping</a:t>
                      </a:r>
                    </a:p>
                  </a:txBody>
                  <a:tcPr marL="45720" marR="45720" marT="27432" marB="27432">
                    <a:solidFill>
                      <a:srgbClr val="FFFFFF"/>
                    </a:solidFill>
                  </a:tcPr>
                </a:tc>
                <a:tc>
                  <a:txBody>
                    <a:bodyPr/>
                    <a:lstStyle/>
                    <a:p>
                      <a:pPr>
                        <a:defRPr sz="900" b="0">
                          <a:solidFill>
                            <a:srgbClr val="222B37"/>
                          </a:solidFill>
                        </a:defRPr>
                      </a:pPr>
                      <a:r>
                        <a:t>High</a:t>
                      </a:r>
                    </a:p>
                  </a:txBody>
                  <a:tcPr marL="45720" marR="45720" marT="27432" marB="27432">
                    <a:solidFill>
                      <a:srgbClr val="FFFFFF"/>
                    </a:solidFill>
                  </a:tcPr>
                </a:tc>
                <a:tc>
                  <a:txBody>
                    <a:bodyPr/>
                    <a:lstStyle/>
                    <a:p>
                      <a:pPr>
                        <a:defRPr sz="900" b="0">
                          <a:solidFill>
                            <a:srgbClr val="222B37"/>
                          </a:solidFill>
                        </a:defRPr>
                      </a:pPr>
                      <a:r>
                        <a:t>Human Challenge Log and reviewer-pattern monitoring</a:t>
                      </a:r>
                    </a:p>
                  </a:txBody>
                  <a:tcPr marL="45720" marR="45720" marT="27432" marB="27432">
                    <a:solidFill>
                      <a:srgbClr val="FFFFFF"/>
                    </a:solidFill>
                  </a:tcPr>
                </a:tc>
                <a:tc>
                  <a:txBody>
                    <a:bodyPr/>
                    <a:lstStyle/>
                    <a:p>
                      <a:pPr>
                        <a:defRPr sz="900" b="0">
                          <a:solidFill>
                            <a:srgbClr val="222B37"/>
                          </a:solidFill>
                        </a:defRPr>
                      </a:pPr>
                      <a:r>
                        <a:t>Compliance Head</a:t>
                      </a:r>
                    </a:p>
                  </a:txBody>
                  <a:tcPr marL="45720" marR="45720" marT="27432" marB="27432">
                    <a:solidFill>
                      <a:srgbClr val="FFFFFF"/>
                    </a:solidFill>
                  </a:tcPr>
                </a:tc>
              </a:tr>
              <a:tr h="587828">
                <a:tc>
                  <a:txBody>
                    <a:bodyPr/>
                    <a:lstStyle/>
                    <a:p>
                      <a:pPr>
                        <a:defRPr sz="900" b="0">
                          <a:solidFill>
                            <a:srgbClr val="222B37"/>
                          </a:solidFill>
                        </a:defRPr>
                      </a:pPr>
                      <a:r>
                        <a:t>Jurisdictional misconfiguration</a:t>
                      </a:r>
                    </a:p>
                  </a:txBody>
                  <a:tcPr marL="45720" marR="45720" marT="27432" marB="27432">
                    <a:solidFill>
                      <a:srgbClr val="FFFFFF"/>
                    </a:solidFill>
                  </a:tcPr>
                </a:tc>
                <a:tc>
                  <a:txBody>
                    <a:bodyPr/>
                    <a:lstStyle/>
                    <a:p>
                      <a:pPr>
                        <a:defRPr sz="900" b="0">
                          <a:solidFill>
                            <a:srgbClr val="222B37"/>
                          </a:solidFill>
                        </a:defRPr>
                      </a:pPr>
                      <a:r>
                        <a:t>High</a:t>
                      </a:r>
                    </a:p>
                  </a:txBody>
                  <a:tcPr marL="45720" marR="45720" marT="27432" marB="27432">
                    <a:solidFill>
                      <a:srgbClr val="FFFFFF"/>
                    </a:solidFill>
                  </a:tcPr>
                </a:tc>
                <a:tc>
                  <a:txBody>
                    <a:bodyPr/>
                    <a:lstStyle/>
                    <a:p>
                      <a:pPr>
                        <a:defRPr sz="900" b="0">
                          <a:solidFill>
                            <a:srgbClr val="222B37"/>
                          </a:solidFill>
                        </a:defRPr>
                      </a:pPr>
                      <a:r>
                        <a:t>Booking-location check, dual-rule activation</a:t>
                      </a:r>
                    </a:p>
                  </a:txBody>
                  <a:tcPr marL="45720" marR="45720" marT="27432" marB="27432">
                    <a:solidFill>
                      <a:srgbClr val="FFFFFF"/>
                    </a:solidFill>
                  </a:tcPr>
                </a:tc>
                <a:tc>
                  <a:txBody>
                    <a:bodyPr/>
                    <a:lstStyle/>
                    <a:p>
                      <a:pPr>
                        <a:defRPr sz="900" b="0">
                          <a:solidFill>
                            <a:srgbClr val="222B37"/>
                          </a:solidFill>
                        </a:defRPr>
                      </a:pPr>
                      <a:r>
                        <a:t>Compliance Operations</a:t>
                      </a:r>
                    </a:p>
                  </a:txBody>
                  <a:tcPr marL="45720" marR="45720" marT="27432" marB="27432">
                    <a:solidFill>
                      <a:srgbClr val="FFFFFF"/>
                    </a:solidFill>
                  </a:tcPr>
                </a:tc>
              </a:tr>
              <a:tr h="587828">
                <a:tc>
                  <a:txBody>
                    <a:bodyPr/>
                    <a:lstStyle/>
                    <a:p>
                      <a:pPr>
                        <a:defRPr sz="900" b="0">
                          <a:solidFill>
                            <a:srgbClr val="222B37"/>
                          </a:solidFill>
                        </a:defRPr>
                      </a:pPr>
                      <a:r>
                        <a:t>False negative</a:t>
                      </a:r>
                    </a:p>
                  </a:txBody>
                  <a:tcPr marL="45720" marR="45720" marT="27432" marB="27432">
                    <a:solidFill>
                      <a:srgbClr val="FFFFFF"/>
                    </a:solidFill>
                  </a:tcPr>
                </a:tc>
                <a:tc>
                  <a:txBody>
                    <a:bodyPr/>
                    <a:lstStyle/>
                    <a:p>
                      <a:pPr>
                        <a:defRPr sz="900" b="0">
                          <a:solidFill>
                            <a:srgbClr val="222B37"/>
                          </a:solidFill>
                        </a:defRPr>
                      </a:pPr>
                      <a:r>
                        <a:t>Very High</a:t>
                      </a:r>
                    </a:p>
                  </a:txBody>
                  <a:tcPr marL="45720" marR="45720" marT="27432" marB="27432">
                    <a:solidFill>
                      <a:srgbClr val="FFFFFF"/>
                    </a:solidFill>
                  </a:tcPr>
                </a:tc>
                <a:tc>
                  <a:txBody>
                    <a:bodyPr/>
                    <a:lstStyle/>
                    <a:p>
                      <a:pPr>
                        <a:defRPr sz="900" b="0">
                          <a:solidFill>
                            <a:srgbClr val="222B37"/>
                          </a:solidFill>
                        </a:defRPr>
                      </a:pPr>
                      <a:r>
                        <a:t>Red Friction + senior compliance approval</a:t>
                      </a:r>
                    </a:p>
                  </a:txBody>
                  <a:tcPr marL="45720" marR="45720" marT="27432" marB="27432">
                    <a:solidFill>
                      <a:srgbClr val="FFFFFF"/>
                    </a:solidFill>
                  </a:tcPr>
                </a:tc>
                <a:tc>
                  <a:txBody>
                    <a:bodyPr/>
                    <a:lstStyle/>
                    <a:p>
                      <a:pPr>
                        <a:defRPr sz="900" b="0">
                          <a:solidFill>
                            <a:srgbClr val="222B37"/>
                          </a:solidFill>
                        </a:defRPr>
                      </a:pPr>
                      <a:r>
                        <a:t>Financial Crime Compliance</a:t>
                      </a:r>
                    </a:p>
                  </a:txBody>
                  <a:tcPr marL="45720" marR="45720" marT="27432" marB="27432">
                    <a:solidFill>
                      <a:srgbClr val="FFFFFF"/>
                    </a:solidFill>
                  </a:tcPr>
                </a:tc>
              </a:tr>
              <a:tr h="587832">
                <a:tc>
                  <a:txBody>
                    <a:bodyPr/>
                    <a:lstStyle/>
                    <a:p>
                      <a:pPr>
                        <a:defRPr sz="900" b="0">
                          <a:solidFill>
                            <a:srgbClr val="222B37"/>
                          </a:solidFill>
                        </a:defRPr>
                      </a:pPr>
                      <a:r>
                        <a:t>Privacy failure</a:t>
                      </a:r>
                    </a:p>
                  </a:txBody>
                  <a:tcPr marL="45720" marR="45720" marT="27432" marB="27432">
                    <a:solidFill>
                      <a:srgbClr val="FFFFFF"/>
                    </a:solidFill>
                  </a:tcPr>
                </a:tc>
                <a:tc>
                  <a:txBody>
                    <a:bodyPr/>
                    <a:lstStyle/>
                    <a:p>
                      <a:pPr>
                        <a:defRPr sz="900" b="0">
                          <a:solidFill>
                            <a:srgbClr val="222B37"/>
                          </a:solidFill>
                        </a:defRPr>
                      </a:pPr>
                      <a:r>
                        <a:t>Very High</a:t>
                      </a:r>
                    </a:p>
                  </a:txBody>
                  <a:tcPr marL="45720" marR="45720" marT="27432" marB="27432">
                    <a:solidFill>
                      <a:srgbClr val="FFFFFF"/>
                    </a:solidFill>
                  </a:tcPr>
                </a:tc>
                <a:tc>
                  <a:txBody>
                    <a:bodyPr/>
                    <a:lstStyle/>
                    <a:p>
                      <a:pPr>
                        <a:defRPr sz="900" b="0">
                          <a:solidFill>
                            <a:srgbClr val="222B37"/>
                          </a:solidFill>
                        </a:defRPr>
                      </a:pPr>
                      <a:r>
                        <a:t>Secure vault, access logs, no uncontrolled model training</a:t>
                      </a:r>
                    </a:p>
                  </a:txBody>
                  <a:tcPr marL="45720" marR="45720" marT="27432" marB="27432">
                    <a:solidFill>
                      <a:srgbClr val="FFFFFF"/>
                    </a:solidFill>
                  </a:tcPr>
                </a:tc>
                <a:tc>
                  <a:txBody>
                    <a:bodyPr/>
                    <a:lstStyle/>
                    <a:p>
                      <a:pPr>
                        <a:defRPr sz="900" b="0">
                          <a:solidFill>
                            <a:srgbClr val="222B37"/>
                          </a:solidFill>
                        </a:defRPr>
                      </a:pPr>
                      <a:r>
                        <a:t>Technology Risk / DPO</a:t>
                      </a:r>
                    </a:p>
                  </a:txBody>
                  <a:tcPr marL="45720" marR="45720" marT="27432" marB="27432">
                    <a:solidFill>
                      <a:srgbClr val="FFFFFF"/>
                    </a:solidFill>
                  </a:tcPr>
                </a:tc>
              </a:tr>
            </a:tbl>
          </a:graphicData>
        </a:graphic>
      </p:graphicFrame>
      <p:sp>
        <p:nvSpPr>
          <p:cNvPr id="6" name="TextBox 5"/>
          <p:cNvSpPr txBox="1"/>
          <p:nvPr/>
        </p:nvSpPr>
        <p:spPr>
          <a:xfrm>
            <a:off x="731520" y="5486400"/>
            <a:ext cx="10698480" cy="457200"/>
          </a:xfrm>
          <a:prstGeom prst="rect">
            <a:avLst/>
          </a:prstGeom>
          <a:noFill/>
        </p:spPr>
        <p:txBody>
          <a:bodyPr wrap="square" lIns="45720" rIns="45720" tIns="27432" bIns="27432">
            <a:spAutoFit/>
          </a:bodyPr>
          <a:lstStyle/>
          <a:p>
            <a:pPr>
              <a:defRPr sz="1600" b="1">
                <a:solidFill>
                  <a:srgbClr val="143053"/>
                </a:solidFill>
              </a:defRPr>
            </a:pPr>
            <a:r>
              <a:t>Failure-mode logic is part of the product, not an afterthought.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0" y="0"/>
            <a:ext cx="12191695" cy="548640"/>
          </a:xfrm>
          <a:prstGeom prst="rect">
            <a:avLst/>
          </a:prstGeom>
          <a:solidFill>
            <a:srgbClr val="143053"/>
          </a:solidFill>
          <a:ln>
            <a:solidFill>
              <a:srgbClr val="14305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430000" cy="384048"/>
          </a:xfrm>
          <a:prstGeom prst="rect">
            <a:avLst/>
          </a:prstGeom>
          <a:noFill/>
        </p:spPr>
        <p:txBody>
          <a:bodyPr wrap="none">
            <a:spAutoFit/>
          </a:bodyPr>
          <a:lstStyle/>
          <a:p>
            <a:pPr>
              <a:defRPr sz="2200" b="1">
                <a:solidFill>
                  <a:srgbClr val="FFFFFF"/>
                </a:solidFill>
              </a:defRPr>
            </a:pPr>
            <a:r>
              <a:t>9. What the tool does not do - and why</a:t>
            </a:r>
          </a:p>
        </p:txBody>
      </p:sp>
      <p:sp>
        <p:nvSpPr>
          <p:cNvPr id="4" name="TextBox 3"/>
          <p:cNvSpPr txBox="1"/>
          <p:nvPr/>
        </p:nvSpPr>
        <p:spPr>
          <a:xfrm>
            <a:off x="502920" y="685800"/>
            <a:ext cx="10972800" cy="320040"/>
          </a:xfrm>
          <a:prstGeom prst="rect">
            <a:avLst/>
          </a:prstGeom>
          <a:noFill/>
        </p:spPr>
        <p:txBody>
          <a:bodyPr wrap="none">
            <a:spAutoFit/>
          </a:bodyPr>
          <a:lstStyle/>
          <a:p>
            <a:pPr>
              <a:defRPr sz="1200">
                <a:solidFill>
                  <a:srgbClr val="5B6778"/>
                </a:solidFill>
              </a:defRPr>
            </a:pPr>
            <a:r>
              <a:t>Clarity and honesty for senior management</a:t>
            </a:r>
          </a:p>
        </p:txBody>
      </p:sp>
      <p:graphicFrame>
        <p:nvGraphicFramePr>
          <p:cNvPr id="5" name="Table 4"/>
          <p:cNvGraphicFramePr>
            <a:graphicFrameLocks noGrp="1"/>
          </p:cNvGraphicFramePr>
          <p:nvPr/>
        </p:nvGraphicFramePr>
        <p:xfrm>
          <a:off x="640080" y="1005840"/>
          <a:ext cx="10607040" cy="3931920"/>
        </p:xfrm>
        <a:graphic>
          <a:graphicData uri="http://schemas.openxmlformats.org/drawingml/2006/table">
            <a:tbl>
              <a:tblPr firstRow="1" bandRow="1">
                <a:tableStyleId>{5C22544A-7EE6-4342-B048-85BDC9FD1C3A}</a:tableStyleId>
              </a:tblPr>
              <a:tblGrid>
                <a:gridCol w="3657600"/>
                <a:gridCol w="6949440"/>
              </a:tblGrid>
              <a:tr h="561702">
                <a:tc>
                  <a:txBody>
                    <a:bodyPr/>
                    <a:lstStyle/>
                    <a:p>
                      <a:pPr>
                        <a:defRPr sz="1000" b="1">
                          <a:solidFill>
                            <a:srgbClr val="222B37"/>
                          </a:solidFill>
                        </a:defRPr>
                      </a:pPr>
                      <a:r>
                        <a:t>Boundary</a:t>
                      </a:r>
                    </a:p>
                  </a:txBody>
                  <a:tcPr marL="45720" marR="45720" marT="27432" marB="27432">
                    <a:solidFill>
                      <a:srgbClr val="E8F0F8"/>
                    </a:solidFill>
                  </a:tcPr>
                </a:tc>
                <a:tc>
                  <a:txBody>
                    <a:bodyPr/>
                    <a:lstStyle/>
                    <a:p>
                      <a:pPr>
                        <a:defRPr sz="1000" b="1">
                          <a:solidFill>
                            <a:srgbClr val="222B37"/>
                          </a:solidFill>
                        </a:defRPr>
                      </a:pPr>
                      <a:r>
                        <a:t>Why this boundary is necessary</a:t>
                      </a:r>
                    </a:p>
                  </a:txBody>
                  <a:tcPr marL="45720" marR="45720" marT="27432" marB="27432">
                    <a:solidFill>
                      <a:srgbClr val="E8F0F8"/>
                    </a:solidFill>
                  </a:tcPr>
                </a:tc>
              </a:tr>
              <a:tr h="561702">
                <a:tc>
                  <a:txBody>
                    <a:bodyPr/>
                    <a:lstStyle/>
                    <a:p>
                      <a:pPr>
                        <a:defRPr sz="1000" b="0">
                          <a:solidFill>
                            <a:srgbClr val="222B37"/>
                          </a:solidFill>
                        </a:defRPr>
                      </a:pPr>
                      <a:r>
                        <a:t>No automatic customer approval</a:t>
                      </a:r>
                    </a:p>
                  </a:txBody>
                  <a:tcPr marL="45720" marR="45720" marT="27432" marB="27432">
                    <a:solidFill>
                      <a:srgbClr val="FFFFFF"/>
                    </a:solidFill>
                  </a:tcPr>
                </a:tc>
                <a:tc>
                  <a:txBody>
                    <a:bodyPr/>
                    <a:lstStyle/>
                    <a:p>
                      <a:pPr>
                        <a:defRPr sz="1000" b="0">
                          <a:solidFill>
                            <a:srgbClr val="222B37"/>
                          </a:solidFill>
                        </a:defRPr>
                      </a:pPr>
                      <a:r>
                        <a:t>Source-of-wealth judgment requires accountable human review</a:t>
                      </a:r>
                    </a:p>
                  </a:txBody>
                  <a:tcPr marL="45720" marR="45720" marT="27432" marB="27432">
                    <a:solidFill>
                      <a:srgbClr val="FFFFFF"/>
                    </a:solidFill>
                  </a:tcPr>
                </a:tc>
              </a:tr>
              <a:tr h="561702">
                <a:tc>
                  <a:txBody>
                    <a:bodyPr/>
                    <a:lstStyle/>
                    <a:p>
                      <a:pPr>
                        <a:defRPr sz="1000" b="0">
                          <a:solidFill>
                            <a:srgbClr val="222B37"/>
                          </a:solidFill>
                        </a:defRPr>
                      </a:pPr>
                      <a:r>
                        <a:t>No automatic STR/SAR filing</a:t>
                      </a:r>
                    </a:p>
                  </a:txBody>
                  <a:tcPr marL="45720" marR="45720" marT="27432" marB="27432">
                    <a:solidFill>
                      <a:srgbClr val="FFFFFF"/>
                    </a:solidFill>
                  </a:tcPr>
                </a:tc>
                <a:tc>
                  <a:txBody>
                    <a:bodyPr/>
                    <a:lstStyle/>
                    <a:p>
                      <a:pPr>
                        <a:defRPr sz="1000" b="0">
                          <a:solidFill>
                            <a:srgbClr val="222B37"/>
                          </a:solidFill>
                        </a:defRPr>
                      </a:pPr>
                      <a:r>
                        <a:t>Reporting decisions require legal/compliance judgment</a:t>
                      </a:r>
                    </a:p>
                  </a:txBody>
                  <a:tcPr marL="45720" marR="45720" marT="27432" marB="27432">
                    <a:solidFill>
                      <a:srgbClr val="FFFFFF"/>
                    </a:solidFill>
                  </a:tcPr>
                </a:tc>
              </a:tr>
              <a:tr h="561702">
                <a:tc>
                  <a:txBody>
                    <a:bodyPr/>
                    <a:lstStyle/>
                    <a:p>
                      <a:pPr>
                        <a:defRPr sz="1000" b="0">
                          <a:solidFill>
                            <a:srgbClr val="222B37"/>
                          </a:solidFill>
                        </a:defRPr>
                      </a:pPr>
                      <a:r>
                        <a:t>No simple MAS/US compliant badge</a:t>
                      </a:r>
                    </a:p>
                  </a:txBody>
                  <a:tcPr marL="45720" marR="45720" marT="27432" marB="27432">
                    <a:solidFill>
                      <a:srgbClr val="FFFFFF"/>
                    </a:solidFill>
                  </a:tcPr>
                </a:tc>
                <a:tc>
                  <a:txBody>
                    <a:bodyPr/>
                    <a:lstStyle/>
                    <a:p>
                      <a:pPr>
                        <a:defRPr sz="1000" b="0">
                          <a:solidFill>
                            <a:srgbClr val="222B37"/>
                          </a:solidFill>
                        </a:defRPr>
                      </a:pPr>
                      <a:r>
                        <a:t>Would hide uncertainty and encourage false confidence</a:t>
                      </a:r>
                    </a:p>
                  </a:txBody>
                  <a:tcPr marL="45720" marR="45720" marT="27432" marB="27432">
                    <a:solidFill>
                      <a:srgbClr val="FFFFFF"/>
                    </a:solidFill>
                  </a:tcPr>
                </a:tc>
              </a:tr>
              <a:tr h="561702">
                <a:tc>
                  <a:txBody>
                    <a:bodyPr/>
                    <a:lstStyle/>
                    <a:p>
                      <a:pPr>
                        <a:defRPr sz="1000" b="0">
                          <a:solidFill>
                            <a:srgbClr val="222B37"/>
                          </a:solidFill>
                        </a:defRPr>
                      </a:pPr>
                      <a:r>
                        <a:t>No full transaction monitoring</a:t>
                      </a:r>
                    </a:p>
                  </a:txBody>
                  <a:tcPr marL="45720" marR="45720" marT="27432" marB="27432">
                    <a:solidFill>
                      <a:srgbClr val="FFFFFF"/>
                    </a:solidFill>
                  </a:tcPr>
                </a:tc>
                <a:tc>
                  <a:txBody>
                    <a:bodyPr/>
                    <a:lstStyle/>
                    <a:p>
                      <a:pPr>
                        <a:defRPr sz="1000" b="0">
                          <a:solidFill>
                            <a:srgbClr val="222B37"/>
                          </a:solidFill>
                        </a:defRPr>
                      </a:pPr>
                      <a:r>
                        <a:t>Scope is AI governance for KYC/source-of-wealth review</a:t>
                      </a:r>
                    </a:p>
                  </a:txBody>
                  <a:tcPr marL="45720" marR="45720" marT="27432" marB="27432">
                    <a:solidFill>
                      <a:srgbClr val="FFFFFF"/>
                    </a:solidFill>
                  </a:tcPr>
                </a:tc>
              </a:tr>
              <a:tr h="561702">
                <a:tc>
                  <a:txBody>
                    <a:bodyPr/>
                    <a:lstStyle/>
                    <a:p>
                      <a:pPr>
                        <a:defRPr sz="1000" b="0">
                          <a:solidFill>
                            <a:srgbClr val="222B37"/>
                          </a:solidFill>
                        </a:defRPr>
                      </a:pPr>
                      <a:r>
                        <a:t>No general model training on customer documents</a:t>
                      </a:r>
                    </a:p>
                  </a:txBody>
                  <a:tcPr marL="45720" marR="45720" marT="27432" marB="27432">
                    <a:solidFill>
                      <a:srgbClr val="FFFFFF"/>
                    </a:solidFill>
                  </a:tcPr>
                </a:tc>
                <a:tc>
                  <a:txBody>
                    <a:bodyPr/>
                    <a:lstStyle/>
                    <a:p>
                      <a:pPr>
                        <a:defRPr sz="1000" b="0">
                          <a:solidFill>
                            <a:srgbClr val="222B37"/>
                          </a:solidFill>
                        </a:defRPr>
                      </a:pPr>
                      <a:r>
                        <a:t>Source-of-wealth data is highly sensitive</a:t>
                      </a:r>
                    </a:p>
                  </a:txBody>
                  <a:tcPr marL="45720" marR="45720" marT="27432" marB="27432">
                    <a:solidFill>
                      <a:srgbClr val="FFFFFF"/>
                    </a:solidFill>
                  </a:tcPr>
                </a:tc>
              </a:tr>
              <a:tr h="561708">
                <a:tc>
                  <a:txBody>
                    <a:bodyPr/>
                    <a:lstStyle/>
                    <a:p>
                      <a:pPr>
                        <a:defRPr sz="1000" b="0">
                          <a:solidFill>
                            <a:srgbClr val="222B37"/>
                          </a:solidFill>
                        </a:defRPr>
                      </a:pPr>
                      <a:r>
                        <a:t>No claim that wealth is legitimate</a:t>
                      </a:r>
                    </a:p>
                  </a:txBody>
                  <a:tcPr marL="45720" marR="45720" marT="27432" marB="27432">
                    <a:solidFill>
                      <a:srgbClr val="FFFFFF"/>
                    </a:solidFill>
                  </a:tcPr>
                </a:tc>
                <a:tc>
                  <a:txBody>
                    <a:bodyPr/>
                    <a:lstStyle/>
                    <a:p>
                      <a:pPr>
                        <a:defRPr sz="1000" b="0">
                          <a:solidFill>
                            <a:srgbClr val="222B37"/>
                          </a:solidFill>
                        </a:defRPr>
                      </a:pPr>
                      <a:r>
                        <a:t>The tool assesses support, contradictions, governance, and auditability</a:t>
                      </a:r>
                    </a:p>
                  </a:txBody>
                  <a:tcPr marL="45720" marR="45720" marT="27432" marB="27432">
                    <a:solidFill>
                      <a:srgbClr val="FFFFFF"/>
                    </a:solidFill>
                  </a:tcPr>
                </a:tc>
              </a:tr>
            </a:tbl>
          </a:graphicData>
        </a:graphic>
      </p:graphicFrame>
      <p:sp>
        <p:nvSpPr>
          <p:cNvPr id="6" name="TextBox 5"/>
          <p:cNvSpPr txBox="1"/>
          <p:nvPr/>
        </p:nvSpPr>
        <p:spPr>
          <a:xfrm>
            <a:off x="731520" y="5394960"/>
            <a:ext cx="10789920" cy="640080"/>
          </a:xfrm>
          <a:prstGeom prst="rect">
            <a:avLst/>
          </a:prstGeom>
          <a:noFill/>
        </p:spPr>
        <p:txBody>
          <a:bodyPr wrap="square" lIns="45720" rIns="45720" tIns="27432" bIns="27432">
            <a:spAutoFit/>
          </a:bodyPr>
          <a:lstStyle/>
          <a:p>
            <a:pPr>
              <a:defRPr sz="1500" b="0">
                <a:solidFill>
                  <a:srgbClr val="B53D35"/>
                </a:solidFill>
              </a:defRPr>
            </a:pPr>
            <a:r>
              <a:t>With more time/data, I would calibrate thresholds using real outcomes, validate drift against production AI outputs, test sensitivity to distribution shifts, and integrate with live KYC systems.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0" y="0"/>
            <a:ext cx="12191695" cy="548640"/>
          </a:xfrm>
          <a:prstGeom prst="rect">
            <a:avLst/>
          </a:prstGeom>
          <a:solidFill>
            <a:srgbClr val="143053"/>
          </a:solidFill>
          <a:ln>
            <a:solidFill>
              <a:srgbClr val="14305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430000" cy="384048"/>
          </a:xfrm>
          <a:prstGeom prst="rect">
            <a:avLst/>
          </a:prstGeom>
          <a:noFill/>
        </p:spPr>
        <p:txBody>
          <a:bodyPr wrap="none">
            <a:spAutoFit/>
          </a:bodyPr>
          <a:lstStyle/>
          <a:p>
            <a:pPr>
              <a:defRPr sz="2200" b="1">
                <a:solidFill>
                  <a:srgbClr val="FFFFFF"/>
                </a:solidFill>
              </a:defRPr>
            </a:pPr>
            <a:r>
              <a:t>10. Senior-management takeaway</a:t>
            </a:r>
          </a:p>
        </p:txBody>
      </p:sp>
      <p:sp>
        <p:nvSpPr>
          <p:cNvPr id="4" name="TextBox 3"/>
          <p:cNvSpPr txBox="1"/>
          <p:nvPr/>
        </p:nvSpPr>
        <p:spPr>
          <a:xfrm>
            <a:off x="502920" y="685800"/>
            <a:ext cx="10972800" cy="320040"/>
          </a:xfrm>
          <a:prstGeom prst="rect">
            <a:avLst/>
          </a:prstGeom>
          <a:noFill/>
        </p:spPr>
        <p:txBody>
          <a:bodyPr wrap="none">
            <a:spAutoFit/>
          </a:bodyPr>
          <a:lstStyle/>
          <a:p>
            <a:pPr>
              <a:defRPr sz="1200">
                <a:solidFill>
                  <a:srgbClr val="5B6778"/>
                </a:solidFill>
              </a:defRPr>
            </a:pPr>
            <a:r>
              <a:t>Control layer for AI-assisted KYC, not a faster writing tool</a:t>
            </a:r>
          </a:p>
        </p:txBody>
      </p:sp>
      <p:sp>
        <p:nvSpPr>
          <p:cNvPr id="5" name="Rounded Rectangle 4"/>
          <p:cNvSpPr/>
          <p:nvPr/>
        </p:nvSpPr>
        <p:spPr>
          <a:xfrm>
            <a:off x="731520" y="1188720"/>
            <a:ext cx="3474720" cy="1371600"/>
          </a:xfrm>
          <a:prstGeom prst="roundRect">
            <a:avLst/>
          </a:prstGeom>
          <a:solidFill>
            <a:srgbClr val="FFFFFF"/>
          </a:solidFill>
          <a:ln>
            <a:solidFill>
              <a:srgbClr val="D0D8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325880"/>
            <a:ext cx="3200400" cy="320040"/>
          </a:xfrm>
          <a:prstGeom prst="rect">
            <a:avLst/>
          </a:prstGeom>
          <a:noFill/>
        </p:spPr>
        <p:txBody>
          <a:bodyPr wrap="square" lIns="45720" rIns="45720" tIns="27432" bIns="27432">
            <a:spAutoFit/>
          </a:bodyPr>
          <a:lstStyle/>
          <a:p>
            <a:pPr>
              <a:defRPr sz="1400" b="1">
                <a:solidFill>
                  <a:srgbClr val="24825D"/>
                </a:solidFill>
              </a:defRPr>
            </a:pPr>
            <a:r>
              <a:t>Business value</a:t>
            </a:r>
          </a:p>
        </p:txBody>
      </p:sp>
      <p:sp>
        <p:nvSpPr>
          <p:cNvPr id="7" name="TextBox 6"/>
          <p:cNvSpPr txBox="1"/>
          <p:nvPr/>
        </p:nvSpPr>
        <p:spPr>
          <a:xfrm>
            <a:off x="868680" y="1691640"/>
            <a:ext cx="3200400" cy="731520"/>
          </a:xfrm>
          <a:prstGeom prst="rect">
            <a:avLst/>
          </a:prstGeom>
          <a:noFill/>
        </p:spPr>
        <p:txBody>
          <a:bodyPr wrap="square" lIns="45720" rIns="45720" tIns="27432" bIns="27432">
            <a:spAutoFit/>
          </a:bodyPr>
          <a:lstStyle/>
          <a:p>
            <a:pPr>
              <a:defRPr sz="1200" b="0">
                <a:solidFill>
                  <a:srgbClr val="222B37"/>
                </a:solidFill>
              </a:defRPr>
            </a:pPr>
            <a:r>
              <a:t>Faster onboarding can be supported without turning source-of-wealth review into a rubber-stamp process.</a:t>
            </a:r>
          </a:p>
        </p:txBody>
      </p:sp>
      <p:sp>
        <p:nvSpPr>
          <p:cNvPr id="8" name="Rounded Rectangle 7"/>
          <p:cNvSpPr/>
          <p:nvPr/>
        </p:nvSpPr>
        <p:spPr>
          <a:xfrm>
            <a:off x="4480560" y="1188720"/>
            <a:ext cx="3474720" cy="1371600"/>
          </a:xfrm>
          <a:prstGeom prst="roundRect">
            <a:avLst/>
          </a:prstGeom>
          <a:solidFill>
            <a:srgbClr val="FFFFFF"/>
          </a:solidFill>
          <a:ln>
            <a:solidFill>
              <a:srgbClr val="D0D8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17720" y="1325880"/>
            <a:ext cx="3200400" cy="320040"/>
          </a:xfrm>
          <a:prstGeom prst="rect">
            <a:avLst/>
          </a:prstGeom>
          <a:noFill/>
        </p:spPr>
        <p:txBody>
          <a:bodyPr wrap="square" lIns="45720" rIns="45720" tIns="27432" bIns="27432">
            <a:spAutoFit/>
          </a:bodyPr>
          <a:lstStyle/>
          <a:p>
            <a:pPr>
              <a:defRPr sz="1400" b="1">
                <a:solidFill>
                  <a:srgbClr val="235EA3"/>
                </a:solidFill>
              </a:defRPr>
            </a:pPr>
            <a:r>
              <a:t>Regulatory value</a:t>
            </a:r>
          </a:p>
        </p:txBody>
      </p:sp>
      <p:sp>
        <p:nvSpPr>
          <p:cNvPr id="10" name="TextBox 9"/>
          <p:cNvSpPr txBox="1"/>
          <p:nvPr/>
        </p:nvSpPr>
        <p:spPr>
          <a:xfrm>
            <a:off x="4617720" y="1691640"/>
            <a:ext cx="3200400" cy="731520"/>
          </a:xfrm>
          <a:prstGeom prst="rect">
            <a:avLst/>
          </a:prstGeom>
          <a:noFill/>
        </p:spPr>
        <p:txBody>
          <a:bodyPr wrap="square" lIns="45720" rIns="45720" tIns="27432" bIns="27432">
            <a:spAutoFit/>
          </a:bodyPr>
          <a:lstStyle/>
          <a:p>
            <a:pPr>
              <a:defRPr sz="1200" b="0">
                <a:solidFill>
                  <a:srgbClr val="222B37"/>
                </a:solidFill>
              </a:defRPr>
            </a:pPr>
            <a:r>
              <a:t>Different Singapore and US logic is visible, versioned, and auditable.</a:t>
            </a:r>
          </a:p>
        </p:txBody>
      </p:sp>
      <p:sp>
        <p:nvSpPr>
          <p:cNvPr id="11" name="Rounded Rectangle 10"/>
          <p:cNvSpPr/>
          <p:nvPr/>
        </p:nvSpPr>
        <p:spPr>
          <a:xfrm>
            <a:off x="8229600" y="1188720"/>
            <a:ext cx="3474720" cy="1371600"/>
          </a:xfrm>
          <a:prstGeom prst="roundRect">
            <a:avLst/>
          </a:prstGeom>
          <a:solidFill>
            <a:srgbClr val="FFFFFF"/>
          </a:solidFill>
          <a:ln>
            <a:solidFill>
              <a:srgbClr val="D0D8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66760" y="1325880"/>
            <a:ext cx="3200400" cy="320040"/>
          </a:xfrm>
          <a:prstGeom prst="rect">
            <a:avLst/>
          </a:prstGeom>
          <a:noFill/>
        </p:spPr>
        <p:txBody>
          <a:bodyPr wrap="square" lIns="45720" rIns="45720" tIns="27432" bIns="27432">
            <a:spAutoFit/>
          </a:bodyPr>
          <a:lstStyle/>
          <a:p>
            <a:pPr>
              <a:defRPr sz="1400" b="1">
                <a:solidFill>
                  <a:srgbClr val="B53D35"/>
                </a:solidFill>
              </a:defRPr>
            </a:pPr>
            <a:r>
              <a:t>Risk value</a:t>
            </a:r>
          </a:p>
        </p:txBody>
      </p:sp>
      <p:sp>
        <p:nvSpPr>
          <p:cNvPr id="13" name="TextBox 12"/>
          <p:cNvSpPr txBox="1"/>
          <p:nvPr/>
        </p:nvSpPr>
        <p:spPr>
          <a:xfrm>
            <a:off x="8366760" y="1691640"/>
            <a:ext cx="3200400" cy="731520"/>
          </a:xfrm>
          <a:prstGeom prst="rect">
            <a:avLst/>
          </a:prstGeom>
          <a:noFill/>
        </p:spPr>
        <p:txBody>
          <a:bodyPr wrap="square" lIns="45720" rIns="45720" tIns="27432" bIns="27432">
            <a:spAutoFit/>
          </a:bodyPr>
          <a:lstStyle/>
          <a:p>
            <a:pPr>
              <a:defRPr sz="1200" b="0">
                <a:solidFill>
                  <a:srgbClr val="222B37"/>
                </a:solidFill>
              </a:defRPr>
            </a:pPr>
            <a:r>
              <a:t>Weak evidence, contradictions, model drift, and human over-reliance are surfaced early.</a:t>
            </a:r>
          </a:p>
        </p:txBody>
      </p:sp>
      <p:sp>
        <p:nvSpPr>
          <p:cNvPr id="14" name="TextBox 13"/>
          <p:cNvSpPr txBox="1"/>
          <p:nvPr/>
        </p:nvSpPr>
        <p:spPr>
          <a:xfrm>
            <a:off x="1005840" y="3657600"/>
            <a:ext cx="10241280" cy="1097280"/>
          </a:xfrm>
          <a:prstGeom prst="rect">
            <a:avLst/>
          </a:prstGeom>
          <a:noFill/>
        </p:spPr>
        <p:txBody>
          <a:bodyPr wrap="square" lIns="45720" rIns="45720" tIns="27432" bIns="27432">
            <a:spAutoFit/>
          </a:bodyPr>
          <a:lstStyle/>
          <a:p>
            <a:pPr>
              <a:defRPr sz="2400" b="1">
                <a:solidFill>
                  <a:srgbClr val="143053"/>
                </a:solidFill>
              </a:defRPr>
            </a:pPr>
            <a:r>
              <a:t>Final position: AI may assist compliance work, but it should not convert uncertainty into false confidence.</a:t>
            </a:r>
          </a:p>
        </p:txBody>
      </p:sp>
      <p:sp>
        <p:nvSpPr>
          <p:cNvPr id="15" name="TextBox 14"/>
          <p:cNvSpPr txBox="1"/>
          <p:nvPr/>
        </p:nvSpPr>
        <p:spPr>
          <a:xfrm>
            <a:off x="1005840" y="5120640"/>
            <a:ext cx="10241280" cy="365760"/>
          </a:xfrm>
          <a:prstGeom prst="rect">
            <a:avLst/>
          </a:prstGeom>
          <a:noFill/>
        </p:spPr>
        <p:txBody>
          <a:bodyPr wrap="square" lIns="45720" rIns="45720" tIns="27432" bIns="27432">
            <a:spAutoFit/>
          </a:bodyPr>
          <a:lstStyle/>
          <a:p>
            <a:pPr>
              <a:defRPr sz="1100" b="0">
                <a:solidFill>
                  <a:srgbClr val="5B6778"/>
                </a:solidFill>
              </a:defRPr>
            </a:pPr>
            <a:r>
              <a:t>References [R1]-[R10] are listed in sources/references.md and in the Architecture Design document.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